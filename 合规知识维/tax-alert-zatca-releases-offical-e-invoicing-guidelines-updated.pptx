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6858000" cy="9906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zt.gov.sa/ar/RulesRegulations/Taxes/Pages/PhaseOne-requirements.aspx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hyperlink" Target="https://home.kpmg/sa/en/home/insights/2020/09/tax-alert-september-2020.html" TargetMode="External"/><Relationship Id="rId3" Type="http://schemas.openxmlformats.org/officeDocument/2006/relationships/hyperlink" Target="https://home.kpmg/sa/en/home/insights/2020/12/e-invoicing-regulations-dec-2020.html" TargetMode="External"/><Relationship Id="rId2" Type="http://schemas.openxmlformats.org/officeDocument/2006/relationships/hyperlink" Target="https://home.kpmg/sa/en/home/insights/2021/03/e-invoicing-resolution-open-for-consultation.html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hyperlink" Target="mailto:yaoun@kpmg.com" TargetMode="External"/><Relationship Id="rId8" Type="http://schemas.openxmlformats.org/officeDocument/2006/relationships/hyperlink" Target="mailto:selkhouri@kpmg.com" TargetMode="External"/><Relationship Id="rId7" Type="http://schemas.openxmlformats.org/officeDocument/2006/relationships/hyperlink" Target="mailto:razaqadir@kpmg.com" TargetMode="External"/><Relationship Id="rId6" Type="http://schemas.openxmlformats.org/officeDocument/2006/relationships/hyperlink" Target="mailto:asainudheen@kpmg.com" TargetMode="External"/><Relationship Id="rId5" Type="http://schemas.openxmlformats.org/officeDocument/2006/relationships/hyperlink" Target="mailto:maraji@kpmg.com" TargetMode="External"/><Relationship Id="rId4" Type="http://schemas.openxmlformats.org/officeDocument/2006/relationships/hyperlink" Target="mailto:peterbourke@kpmg.com" TargetMode="External"/><Relationship Id="rId3" Type="http://schemas.openxmlformats.org/officeDocument/2006/relationships/hyperlink" Target="mailto:nsoverall@kpmg.com" TargetMode="External"/><Relationship Id="rId2" Type="http://schemas.openxmlformats.org/officeDocument/2006/relationships/hyperlink" Target="mailto:aalnaim@kpmg.com" TargetMode="External"/><Relationship Id="rId19" Type="http://schemas.openxmlformats.org/officeDocument/2006/relationships/hyperlink" Target="mailto:seido@kpmg.com" TargetMode="External"/><Relationship Id="rId18" Type="http://schemas.openxmlformats.org/officeDocument/2006/relationships/hyperlink" Target="mailto:muhammadmasood@kpmg.com" TargetMode="External"/><Relationship Id="rId17" Type="http://schemas.openxmlformats.org/officeDocument/2006/relationships/image" Target="../media/image2.png"/><Relationship Id="rId16" Type="http://schemas.openxmlformats.org/officeDocument/2006/relationships/hyperlink" Target="https://home.kpmg.com/sa" TargetMode="External"/><Relationship Id="rId15" Type="http://schemas.openxmlformats.org/officeDocument/2006/relationships/hyperlink" Target="mailto:melswefy@kpmg.com" TargetMode="External"/><Relationship Id="rId14" Type="http://schemas.openxmlformats.org/officeDocument/2006/relationships/hyperlink" Target="mailto:mrehmani@kpmg.com" TargetMode="External"/><Relationship Id="rId13" Type="http://schemas.openxmlformats.org/officeDocument/2006/relationships/hyperlink" Target="mailto:ksial@kpmg.com" TargetMode="External"/><Relationship Id="rId12" Type="http://schemas.openxmlformats.org/officeDocument/2006/relationships/hyperlink" Target="mailto:talsunaid@kpmg.com" TargetMode="External"/><Relationship Id="rId11" Type="http://schemas.openxmlformats.org/officeDocument/2006/relationships/hyperlink" Target="mailto:oshmal@kpmg.com" TargetMode="External"/><Relationship Id="rId10" Type="http://schemas.openxmlformats.org/officeDocument/2006/relationships/hyperlink" Target="mailto:FTanvir@kpmg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427185" y="2874047"/>
            <a:ext cx="5991859" cy="657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3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8734" algn="l" rtl="0" eaLnBrk="0">
              <a:lnSpc>
                <a:spcPct val="78000"/>
              </a:lnSpc>
              <a:tabLst/>
            </a:pPr>
            <a:r>
              <a:rPr sz="1100" b="1" kern="0" spc="-20" dirty="0">
                <a:solidFill>
                  <a:srgbClr val="002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1100" b="1" kern="0" spc="70" dirty="0">
                <a:solidFill>
                  <a:srgbClr val="002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b="1" kern="0" spc="-20" dirty="0">
                <a:solidFill>
                  <a:srgbClr val="002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brief</a:t>
            </a:r>
            <a:endParaRPr sz="1100" dirty="0">
              <a:latin typeface="Arial"/>
              <a:ea typeface="Arial"/>
              <a:cs typeface="Arial"/>
            </a:endParaRPr>
          </a:p>
          <a:p>
            <a:pPr marL="33019" indent="2540" algn="l" rtl="0" eaLnBrk="0">
              <a:lnSpc>
                <a:spcPct val="106000"/>
              </a:lnSpc>
              <a:spcBef>
                <a:spcPts val="1430"/>
              </a:spcBef>
              <a:tabLst/>
            </a:pP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sz="10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28</a:t>
            </a:r>
            <a:r>
              <a:rPr sz="10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May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2021,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Zakat,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Tax</a:t>
            </a:r>
            <a:r>
              <a:rPr sz="10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Customs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Authority</a:t>
            </a: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(ZATCA)</a:t>
            </a:r>
            <a:r>
              <a:rPr sz="10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published</a:t>
            </a:r>
            <a:r>
              <a:rPr sz="10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official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guidelin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es</a:t>
            </a:r>
            <a:r>
              <a:rPr sz="10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standards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regarding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implementation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invoicing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Kingdom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most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significant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announcement</a:t>
            </a:r>
            <a:r>
              <a:rPr sz="10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 that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Phase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2,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“Integration”,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the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implementation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10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now</a:t>
            </a:r>
            <a:r>
              <a:rPr sz="10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postponed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 from</a:t>
            </a:r>
            <a:r>
              <a:rPr sz="10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 July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2022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0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January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2023.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deadline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Phase</a:t>
            </a:r>
            <a:r>
              <a:rPr sz="10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1, “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Generation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Storage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”,</a:t>
            </a:r>
            <a:r>
              <a:rPr sz="10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remains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same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December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2021.</a:t>
            </a:r>
            <a:endParaRPr sz="1000" dirty="0">
              <a:latin typeface="Arial"/>
              <a:ea typeface="Arial"/>
              <a:cs typeface="Arial"/>
            </a:endParaRPr>
          </a:p>
          <a:p>
            <a:pPr marL="38734" algn="l" rtl="0" eaLnBrk="0">
              <a:lnSpc>
                <a:spcPct val="78000"/>
              </a:lnSpc>
              <a:spcBef>
                <a:spcPts val="1381"/>
              </a:spcBef>
              <a:tabLst/>
            </a:pPr>
            <a:r>
              <a:rPr sz="1100" b="1" kern="0" spc="-20" dirty="0">
                <a:solidFill>
                  <a:srgbClr val="002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 detail</a:t>
            </a:r>
            <a:endParaRPr sz="1100" dirty="0">
              <a:latin typeface="Arial"/>
              <a:ea typeface="Arial"/>
              <a:cs typeface="Arial"/>
            </a:endParaRPr>
          </a:p>
          <a:p>
            <a:pPr marL="33655" indent="-1270" algn="l" rtl="0" eaLnBrk="0">
              <a:lnSpc>
                <a:spcPct val="102000"/>
              </a:lnSpc>
              <a:spcBef>
                <a:spcPts val="1439"/>
              </a:spcBef>
              <a:tabLst/>
            </a:pP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0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first</a:t>
            </a:r>
            <a:r>
              <a:rPr sz="1000" kern="0" spc="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phase</a:t>
            </a:r>
            <a:r>
              <a:rPr sz="10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e-invoicing,</a:t>
            </a:r>
            <a:r>
              <a:rPr sz="1000" kern="0" spc="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now</a:t>
            </a:r>
            <a:r>
              <a:rPr sz="10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termed</a:t>
            </a:r>
            <a:r>
              <a:rPr sz="1000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“Issue</a:t>
            </a:r>
            <a:r>
              <a:rPr sz="10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000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Storage”</a:t>
            </a:r>
            <a:r>
              <a:rPr sz="10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starts</a:t>
            </a:r>
            <a:r>
              <a:rPr sz="10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sz="1000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1000" kern="0" spc="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December</a:t>
            </a:r>
            <a:r>
              <a:rPr sz="1000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1000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requires</a:t>
            </a:r>
            <a:r>
              <a:rPr sz="10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taxpayers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   issue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0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store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electronic   invoices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   not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es.</a:t>
            </a:r>
            <a:r>
              <a:rPr sz="10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second   phase,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“Integration”,</a:t>
            </a:r>
            <a:r>
              <a:rPr sz="10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now</a:t>
            </a:r>
            <a:r>
              <a:rPr sz="10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starts</a:t>
            </a:r>
            <a:r>
              <a:rPr sz="10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sz="1000" kern="0" spc="2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0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January</a:t>
            </a:r>
            <a:r>
              <a:rPr sz="10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0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000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requires</a:t>
            </a:r>
            <a:r>
              <a:rPr sz="10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taxpayers</a:t>
            </a: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0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transmit</a:t>
            </a:r>
            <a:r>
              <a:rPr sz="10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electronic</a:t>
            </a:r>
            <a:r>
              <a:rPr sz="1000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invoices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 notes and share these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documents with ZATCA for electronic verification and stamping.</a:t>
            </a:r>
            <a:endParaRPr sz="1000" dirty="0">
              <a:latin typeface="Arial"/>
              <a:ea typeface="Arial"/>
              <a:cs typeface="Arial"/>
            </a:endParaRPr>
          </a:p>
          <a:p>
            <a:pPr marL="39369" indent="-3810" algn="l" rtl="0" eaLnBrk="0">
              <a:lnSpc>
                <a:spcPct val="98000"/>
              </a:lnSpc>
              <a:spcBef>
                <a:spcPts val="1399"/>
              </a:spcBef>
              <a:tabLst/>
            </a:pP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sz="1000" kern="0" spc="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28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May</a:t>
            </a:r>
            <a:r>
              <a:rPr sz="1000" kern="0" spc="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000" kern="0" spc="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000" kern="0" spc="2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ZATCA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published</a:t>
            </a:r>
            <a:r>
              <a:rPr sz="1000" kern="0" spc="2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0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following</a:t>
            </a:r>
            <a:r>
              <a:rPr sz="1000" kern="0" spc="2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documents</a:t>
            </a:r>
            <a:r>
              <a:rPr sz="1000" kern="0" spc="2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sz="1000" kern="0" spc="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0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Authority’s</a:t>
            </a:r>
            <a:r>
              <a:rPr sz="1000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u="sng" kern="0" spc="2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website</a:t>
            </a:r>
            <a:r>
              <a:rPr sz="1000" kern="0" spc="23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Phase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 of the implementation of e-inv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oicing:</a:t>
            </a: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60400" indent="-167004" algn="l" rtl="0" eaLnBrk="0">
              <a:lnSpc>
                <a:spcPct val="94000"/>
              </a:lnSpc>
              <a:spcBef>
                <a:spcPts val="300"/>
              </a:spcBef>
              <a:tabLst/>
            </a:pP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The Controls,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Requirements, Technical Specifications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Procedural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Rules to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Implement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Provisions of the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E-invoicing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gulations;</a:t>
            </a:r>
            <a:endParaRPr sz="1000" dirty="0">
              <a:latin typeface="Arial"/>
              <a:ea typeface="Arial"/>
              <a:cs typeface="Arial"/>
            </a:endParaRPr>
          </a:p>
          <a:p>
            <a:pPr marL="493394" algn="l" rtl="0" eaLnBrk="0">
              <a:lnSpc>
                <a:spcPct val="83000"/>
              </a:lnSpc>
              <a:spcBef>
                <a:spcPts val="268"/>
              </a:spcBef>
              <a:tabLst/>
            </a:pP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E-invoicing Simplified Guideli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nes;</a:t>
            </a:r>
            <a:endParaRPr sz="1000" dirty="0">
              <a:latin typeface="Arial"/>
              <a:ea typeface="Arial"/>
              <a:cs typeface="Arial"/>
            </a:endParaRPr>
          </a:p>
          <a:p>
            <a:pPr marL="493394" algn="l" rtl="0" eaLnBrk="0">
              <a:lnSpc>
                <a:spcPct val="83000"/>
              </a:lnSpc>
              <a:spcBef>
                <a:spcPts val="264"/>
              </a:spcBef>
              <a:tabLst/>
            </a:pP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E-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invoicing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Phase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FAQs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1000" dirty="0">
              <a:latin typeface="Arial"/>
              <a:ea typeface="Arial"/>
              <a:cs typeface="Arial"/>
            </a:endParaRPr>
          </a:p>
          <a:p>
            <a:pPr marL="493394" algn="l" rtl="0" eaLnBrk="0">
              <a:lnSpc>
                <a:spcPct val="83000"/>
              </a:lnSpc>
              <a:spcBef>
                <a:spcPts val="260"/>
              </a:spcBef>
              <a:tabLst/>
            </a:pP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Electronic</a:t>
            </a:r>
            <a:r>
              <a:rPr sz="10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Invoice XML</a:t>
            </a:r>
            <a:r>
              <a:rPr sz="10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Implementation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Standards;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endParaRPr sz="1000" dirty="0">
              <a:latin typeface="Arial"/>
              <a:ea typeface="Arial"/>
              <a:cs typeface="Arial"/>
            </a:endParaRPr>
          </a:p>
          <a:p>
            <a:pPr marL="493394" algn="l" rtl="0" eaLnBrk="0">
              <a:lnSpc>
                <a:spcPct val="83000"/>
              </a:lnSpc>
              <a:spcBef>
                <a:spcPts val="269"/>
              </a:spcBef>
              <a:tabLst/>
            </a:pP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Electronic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Invoice Security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Features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Implementation Standards.</a:t>
            </a:r>
            <a:endParaRPr sz="1000" dirty="0">
              <a:latin typeface="Arial"/>
              <a:ea typeface="Arial"/>
              <a:cs typeface="Arial"/>
            </a:endParaRPr>
          </a:p>
          <a:p>
            <a:pPr marL="33655" indent="-1270" algn="l" rtl="0" eaLnBrk="0">
              <a:lnSpc>
                <a:spcPct val="103000"/>
              </a:lnSpc>
              <a:spcBef>
                <a:spcPts val="1443"/>
              </a:spcBef>
              <a:tabLst/>
            </a:pP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 recently  p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ublished  guidelines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standards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provide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overview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essential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terms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processes to implement e-invoicing. They cover the definitions of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E-invoicing,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E-invoice, Tax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Invoice,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Simplified Tax</a:t>
            </a: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Invoice,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E-invoicing solutions and QR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code, which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are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essential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understand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before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delving  into  t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he  technical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documentation.  The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guidelines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also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cover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electronic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invoicing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system,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generation</a:t>
            </a:r>
            <a:r>
              <a:rPr sz="10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storage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electronic</a:t>
            </a:r>
            <a:r>
              <a:rPr sz="10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invoices,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need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0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ensure</a:t>
            </a:r>
            <a:r>
              <a:rPr sz="10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that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all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elements of the tax invoice are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prese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nt.</a:t>
            </a:r>
            <a:endParaRPr sz="1000" dirty="0">
              <a:latin typeface="Arial"/>
              <a:ea typeface="Arial"/>
              <a:cs typeface="Arial"/>
            </a:endParaRPr>
          </a:p>
          <a:p>
            <a:pPr marL="31750" indent="8254" algn="l" rtl="0" eaLnBrk="0">
              <a:lnSpc>
                <a:spcPct val="101000"/>
              </a:lnSpc>
              <a:spcBef>
                <a:spcPts val="1393"/>
              </a:spcBef>
              <a:tabLst/>
            </a:pP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sz="1000" kern="0" spc="2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specialists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  developers  of  invoicing  systems,</a:t>
            </a:r>
            <a:r>
              <a:rPr sz="1000" kern="0" spc="2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ZATCA  recommends  that</a:t>
            </a:r>
            <a:r>
              <a:rPr sz="1000" kern="0" spc="2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they  review  the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technical  specifica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tions  published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its  website.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Taxpayers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should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ensure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that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e-invoice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products they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acquire comply with the Authority’s requirements.</a:t>
            </a:r>
            <a:endParaRPr sz="1000" dirty="0">
              <a:latin typeface="Arial"/>
              <a:ea typeface="Arial"/>
              <a:cs typeface="Arial"/>
            </a:endParaRPr>
          </a:p>
          <a:p>
            <a:pPr marL="29209" algn="l" rtl="0" eaLnBrk="0">
              <a:lnSpc>
                <a:spcPct val="83000"/>
              </a:lnSpc>
              <a:spcBef>
                <a:spcPts val="1497"/>
              </a:spcBef>
              <a:tabLst/>
            </a:pP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What must be</a:t>
            </a:r>
            <a:r>
              <a:rPr sz="10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done</a:t>
            </a: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10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Phase</a:t>
            </a:r>
            <a:r>
              <a:rPr sz="1000" b="1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1:</a:t>
            </a: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93394" algn="l" rtl="0" eaLnBrk="0">
              <a:lnSpc>
                <a:spcPct val="83000"/>
              </a:lnSpc>
              <a:spcBef>
                <a:spcPts val="304"/>
              </a:spcBef>
              <a:tabLst/>
            </a:pP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Updating or installing new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invoicing sy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stems</a:t>
            </a:r>
            <a:r>
              <a:rPr sz="1000" kern="0" spc="1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1000" dirty="0">
              <a:latin typeface="Arial"/>
              <a:ea typeface="Arial"/>
              <a:cs typeface="Arial"/>
            </a:endParaRPr>
          </a:p>
          <a:p>
            <a:pPr marL="493394" algn="l" rtl="0" eaLnBrk="0">
              <a:lnSpc>
                <a:spcPct val="83000"/>
              </a:lnSpc>
              <a:spcBef>
                <a:spcPts val="264"/>
              </a:spcBef>
              <a:tabLst/>
            </a:pP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Adding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QR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codes to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invoices</a:t>
            </a:r>
            <a:r>
              <a:rPr sz="1000" kern="0" spc="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1000" dirty="0">
              <a:latin typeface="Arial"/>
              <a:ea typeface="Arial"/>
              <a:cs typeface="Arial"/>
            </a:endParaRPr>
          </a:p>
          <a:p>
            <a:pPr marL="493394" algn="l" rtl="0" eaLnBrk="0">
              <a:lnSpc>
                <a:spcPct val="83000"/>
              </a:lnSpc>
              <a:spcBef>
                <a:spcPts val="264"/>
              </a:spcBef>
              <a:tabLst/>
            </a:pP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Adding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the buyer’s VAT registration number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if they are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registered for VAT</a:t>
            </a:r>
            <a:r>
              <a:rPr sz="1000" kern="0" spc="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0" y="0"/>
            <a:ext cx="6858000" cy="2715768"/>
            <a:chOff x="0" y="0"/>
            <a:chExt cx="6858000" cy="2715768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858000" cy="2715768"/>
            </a:xfrm>
            <a:prstGeom prst="rect">
              <a:avLst/>
            </a:prstGeom>
          </p:spPr>
        </p:pic>
        <p:sp>
          <p:nvSpPr>
            <p:cNvPr id="6" name="textbox 6"/>
            <p:cNvSpPr/>
            <p:nvPr/>
          </p:nvSpPr>
          <p:spPr>
            <a:xfrm>
              <a:off x="621498" y="903016"/>
              <a:ext cx="5940425" cy="16465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ts val="4406"/>
                </a:lnSpc>
                <a:tabLst/>
              </a:pPr>
              <a:r>
                <a:rPr sz="2700" kern="0" spc="-100" dirty="0">
                  <a:solidFill>
                    <a:srgbClr val="FFFFFF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Tax</a:t>
              </a:r>
              <a:r>
                <a:rPr sz="2700" kern="0" spc="90" dirty="0">
                  <a:solidFill>
                    <a:srgbClr val="FFFFFF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 </a:t>
              </a:r>
              <a:r>
                <a:rPr sz="2700" kern="0" spc="-100" dirty="0">
                  <a:solidFill>
                    <a:srgbClr val="FFFFFF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Alert:</a:t>
              </a:r>
              <a:r>
                <a:rPr sz="2700" kern="0" spc="120" dirty="0">
                  <a:solidFill>
                    <a:srgbClr val="FFFFFF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 </a:t>
              </a:r>
              <a:r>
                <a:rPr sz="2700" kern="0" spc="-100" dirty="0">
                  <a:solidFill>
                    <a:srgbClr val="FFFFFF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ZATCA</a:t>
              </a:r>
              <a:r>
                <a:rPr sz="2700" kern="0" spc="160" dirty="0">
                  <a:solidFill>
                    <a:srgbClr val="FFFFFF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 </a:t>
              </a:r>
              <a:r>
                <a:rPr sz="2700" kern="0" spc="-100" dirty="0">
                  <a:solidFill>
                    <a:srgbClr val="FFFFFF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releases</a:t>
              </a:r>
              <a:r>
                <a:rPr sz="2700" kern="0" spc="150" dirty="0">
                  <a:solidFill>
                    <a:srgbClr val="FFFFFF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 </a:t>
              </a:r>
              <a:r>
                <a:rPr sz="2700" kern="0" spc="-100" dirty="0">
                  <a:solidFill>
                    <a:srgbClr val="FFFFFF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official</a:t>
              </a:r>
              <a:r>
                <a:rPr sz="2700" kern="0" spc="130" dirty="0">
                  <a:solidFill>
                    <a:srgbClr val="FFFFFF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 </a:t>
              </a:r>
              <a:r>
                <a:rPr sz="2700" kern="0" spc="-100" dirty="0">
                  <a:solidFill>
                    <a:srgbClr val="FFFFFF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e-invoicing</a:t>
              </a:r>
              <a:endParaRPr sz="2700" dirty="0">
                <a:latin typeface="Corbel"/>
                <a:ea typeface="Corbel"/>
                <a:cs typeface="Corbel"/>
              </a:endParaRPr>
            </a:p>
            <a:p>
              <a:pPr marL="20954" algn="l" rtl="0" eaLnBrk="0">
                <a:lnSpc>
                  <a:spcPts val="5281"/>
                </a:lnSpc>
                <a:tabLst/>
              </a:pPr>
              <a:r>
                <a:rPr sz="2900" kern="0" spc="-100" dirty="0">
                  <a:solidFill>
                    <a:srgbClr val="FFFFFF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guidelines and</a:t>
              </a:r>
              <a:r>
                <a:rPr sz="2900" kern="0" spc="160" dirty="0">
                  <a:solidFill>
                    <a:srgbClr val="FFFFFF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 </a:t>
              </a:r>
              <a:r>
                <a:rPr sz="2900" kern="0" spc="-100" dirty="0">
                  <a:solidFill>
                    <a:srgbClr val="FFFFFF">
                      <a:alpha val="100000"/>
                    </a:srgbClr>
                  </a:solidFill>
                  <a:latin typeface="Corbel"/>
                  <a:ea typeface="Corbel"/>
                  <a:cs typeface="Corbel"/>
                </a:rPr>
                <a:t>standards</a:t>
              </a:r>
              <a:endParaRPr sz="2900" dirty="0">
                <a:latin typeface="Corbel"/>
                <a:ea typeface="Corbel"/>
                <a:cs typeface="Corbe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200" dirty="0">
                <a:latin typeface="Arial"/>
                <a:ea typeface="Arial"/>
                <a:cs typeface="Arial"/>
              </a:endParaRPr>
            </a:p>
            <a:p>
              <a:pPr marL="67944" algn="l" rtl="0" eaLnBrk="0">
                <a:lnSpc>
                  <a:spcPct val="82000"/>
                </a:lnSpc>
                <a:spcBef>
                  <a:spcPts val="1"/>
                </a:spcBef>
                <a:tabLst/>
              </a:pPr>
              <a:r>
                <a:rPr sz="16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June</a:t>
              </a:r>
              <a:r>
                <a:rPr sz="1600" kern="0" spc="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2021</a:t>
              </a:r>
              <a:endParaRPr sz="16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8" name="path 8"/>
            <p:cNvSpPr/>
            <p:nvPr/>
          </p:nvSpPr>
          <p:spPr>
            <a:xfrm>
              <a:off x="592835" y="323088"/>
              <a:ext cx="1068324" cy="414527"/>
            </a:xfrm>
            <a:custGeom>
              <a:avLst/>
              <a:gdLst/>
              <a:ahLst/>
              <a:cxnLst/>
              <a:rect l="0" t="0" r="0" b="0"/>
              <a:pathLst>
                <a:path w="1682" h="652">
                  <a:moveTo>
                    <a:pt x="1670" y="498"/>
                  </a:moveTo>
                  <a:cubicBezTo>
                    <a:pt x="1581" y="498"/>
                    <a:pt x="1581" y="498"/>
                    <a:pt x="1581" y="498"/>
                  </a:cubicBezTo>
                  <a:cubicBezTo>
                    <a:pt x="1599" y="440"/>
                    <a:pt x="1599" y="440"/>
                    <a:pt x="1599" y="440"/>
                  </a:cubicBezTo>
                  <a:cubicBezTo>
                    <a:pt x="1420" y="440"/>
                    <a:pt x="1420" y="440"/>
                    <a:pt x="1420" y="440"/>
                  </a:cubicBezTo>
                  <a:cubicBezTo>
                    <a:pt x="1408" y="498"/>
                    <a:pt x="1408" y="498"/>
                    <a:pt x="1408" y="498"/>
                  </a:cubicBezTo>
                  <a:cubicBezTo>
                    <a:pt x="1319" y="498"/>
                    <a:pt x="1319" y="498"/>
                    <a:pt x="1319" y="498"/>
                  </a:cubicBezTo>
                  <a:cubicBezTo>
                    <a:pt x="1319" y="486"/>
                    <a:pt x="1319" y="486"/>
                    <a:pt x="1319" y="486"/>
                  </a:cubicBezTo>
                  <a:cubicBezTo>
                    <a:pt x="1325" y="480"/>
                    <a:pt x="1325" y="475"/>
                    <a:pt x="1325" y="463"/>
                  </a:cubicBezTo>
                  <a:cubicBezTo>
                    <a:pt x="1343" y="406"/>
                    <a:pt x="1385" y="343"/>
                    <a:pt x="1450" y="343"/>
                  </a:cubicBezTo>
                  <a:cubicBezTo>
                    <a:pt x="1480" y="343"/>
                    <a:pt x="1510" y="355"/>
                    <a:pt x="1504" y="395"/>
                  </a:cubicBezTo>
                  <a:cubicBezTo>
                    <a:pt x="1610" y="395"/>
                    <a:pt x="1610" y="395"/>
                    <a:pt x="1610" y="395"/>
                  </a:cubicBezTo>
                  <a:cubicBezTo>
                    <a:pt x="1616" y="378"/>
                    <a:pt x="1623" y="349"/>
                    <a:pt x="1599" y="320"/>
                  </a:cubicBezTo>
                  <a:cubicBezTo>
                    <a:pt x="1581" y="291"/>
                    <a:pt x="1533" y="274"/>
                    <a:pt x="1474" y="274"/>
                  </a:cubicBezTo>
                  <a:cubicBezTo>
                    <a:pt x="1432" y="274"/>
                    <a:pt x="1373" y="286"/>
                    <a:pt x="1319" y="315"/>
                  </a:cubicBezTo>
                  <a:cubicBezTo>
                    <a:pt x="1319" y="11"/>
                    <a:pt x="1319" y="11"/>
                    <a:pt x="1319" y="11"/>
                  </a:cubicBezTo>
                  <a:cubicBezTo>
                    <a:pt x="1670" y="11"/>
                    <a:pt x="1670" y="11"/>
                    <a:pt x="1670" y="11"/>
                  </a:cubicBezTo>
                  <a:cubicBezTo>
                    <a:pt x="1670" y="498"/>
                    <a:pt x="1670" y="498"/>
                    <a:pt x="1670" y="498"/>
                  </a:cubicBezTo>
                  <a:cubicBezTo>
                    <a:pt x="1670" y="498"/>
                    <a:pt x="1670" y="498"/>
                    <a:pt x="1670" y="498"/>
                  </a:cubicBezTo>
                  <a:moveTo>
                    <a:pt x="1462" y="578"/>
                  </a:moveTo>
                  <a:cubicBezTo>
                    <a:pt x="1444" y="584"/>
                    <a:pt x="1426" y="584"/>
                    <a:pt x="1408" y="584"/>
                  </a:cubicBezTo>
                  <a:cubicBezTo>
                    <a:pt x="1355" y="584"/>
                    <a:pt x="1319" y="561"/>
                    <a:pt x="1319" y="509"/>
                  </a:cubicBezTo>
                  <a:cubicBezTo>
                    <a:pt x="1480" y="509"/>
                    <a:pt x="1480" y="509"/>
                    <a:pt x="1480" y="509"/>
                  </a:cubicBezTo>
                  <a:cubicBezTo>
                    <a:pt x="1462" y="578"/>
                    <a:pt x="1462" y="578"/>
                    <a:pt x="1462" y="578"/>
                  </a:cubicBezTo>
                  <a:cubicBezTo>
                    <a:pt x="1462" y="578"/>
                    <a:pt x="1462" y="578"/>
                    <a:pt x="1462" y="578"/>
                  </a:cubicBezTo>
                  <a:moveTo>
                    <a:pt x="1266" y="303"/>
                  </a:moveTo>
                  <a:cubicBezTo>
                    <a:pt x="1266" y="372"/>
                    <a:pt x="1266" y="372"/>
                    <a:pt x="1266" y="372"/>
                  </a:cubicBezTo>
                  <a:cubicBezTo>
                    <a:pt x="1242" y="406"/>
                    <a:pt x="1224" y="440"/>
                    <a:pt x="1218" y="469"/>
                  </a:cubicBezTo>
                  <a:cubicBezTo>
                    <a:pt x="1212" y="475"/>
                    <a:pt x="1212" y="486"/>
                    <a:pt x="1212" y="498"/>
                  </a:cubicBezTo>
                  <a:cubicBezTo>
                    <a:pt x="1159" y="498"/>
                    <a:pt x="1159" y="498"/>
                    <a:pt x="1159" y="498"/>
                  </a:cubicBezTo>
                  <a:cubicBezTo>
                    <a:pt x="1206" y="297"/>
                    <a:pt x="1206" y="297"/>
                    <a:pt x="1206" y="297"/>
                  </a:cubicBezTo>
                  <a:cubicBezTo>
                    <a:pt x="1058" y="297"/>
                    <a:pt x="1058" y="297"/>
                    <a:pt x="1058" y="297"/>
                  </a:cubicBezTo>
                  <a:cubicBezTo>
                    <a:pt x="927" y="498"/>
                    <a:pt x="927" y="498"/>
                    <a:pt x="927" y="498"/>
                  </a:cubicBezTo>
                  <a:cubicBezTo>
                    <a:pt x="915" y="498"/>
                    <a:pt x="915" y="498"/>
                    <a:pt x="915" y="498"/>
                  </a:cubicBezTo>
                  <a:cubicBezTo>
                    <a:pt x="915" y="11"/>
                    <a:pt x="915" y="11"/>
                    <a:pt x="915" y="11"/>
                  </a:cubicBezTo>
                  <a:cubicBezTo>
                    <a:pt x="1266" y="11"/>
                    <a:pt x="1266" y="11"/>
                    <a:pt x="1266" y="11"/>
                  </a:cubicBezTo>
                  <a:cubicBezTo>
                    <a:pt x="1266" y="303"/>
                    <a:pt x="1266" y="303"/>
                    <a:pt x="1266" y="303"/>
                  </a:cubicBezTo>
                  <a:cubicBezTo>
                    <a:pt x="1266" y="303"/>
                    <a:pt x="1266" y="303"/>
                    <a:pt x="1266" y="303"/>
                  </a:cubicBezTo>
                  <a:moveTo>
                    <a:pt x="1070" y="498"/>
                  </a:moveTo>
                  <a:cubicBezTo>
                    <a:pt x="1016" y="498"/>
                    <a:pt x="1016" y="498"/>
                    <a:pt x="1016" y="498"/>
                  </a:cubicBezTo>
                  <a:cubicBezTo>
                    <a:pt x="1099" y="378"/>
                    <a:pt x="1099" y="378"/>
                    <a:pt x="1099" y="378"/>
                  </a:cubicBezTo>
                  <a:cubicBezTo>
                    <a:pt x="1070" y="498"/>
                    <a:pt x="1070" y="498"/>
                    <a:pt x="1070" y="498"/>
                  </a:cubicBezTo>
                  <a:cubicBezTo>
                    <a:pt x="1070" y="498"/>
                    <a:pt x="1070" y="498"/>
                    <a:pt x="1070" y="498"/>
                  </a:cubicBezTo>
                  <a:moveTo>
                    <a:pt x="861" y="297"/>
                  </a:moveTo>
                  <a:cubicBezTo>
                    <a:pt x="772" y="297"/>
                    <a:pt x="772" y="297"/>
                    <a:pt x="772" y="297"/>
                  </a:cubicBezTo>
                  <a:cubicBezTo>
                    <a:pt x="713" y="498"/>
                    <a:pt x="713" y="498"/>
                    <a:pt x="713" y="498"/>
                  </a:cubicBezTo>
                  <a:cubicBezTo>
                    <a:pt x="618" y="498"/>
                    <a:pt x="618" y="498"/>
                    <a:pt x="618" y="498"/>
                  </a:cubicBezTo>
                  <a:cubicBezTo>
                    <a:pt x="665" y="480"/>
                    <a:pt x="695" y="446"/>
                    <a:pt x="707" y="400"/>
                  </a:cubicBezTo>
                  <a:cubicBezTo>
                    <a:pt x="713" y="366"/>
                    <a:pt x="707" y="337"/>
                    <a:pt x="695" y="320"/>
                  </a:cubicBezTo>
                  <a:cubicBezTo>
                    <a:pt x="671" y="291"/>
                    <a:pt x="624" y="297"/>
                    <a:pt x="582" y="297"/>
                  </a:cubicBezTo>
                  <a:cubicBezTo>
                    <a:pt x="576" y="297"/>
                    <a:pt x="511" y="297"/>
                    <a:pt x="511" y="297"/>
                  </a:cubicBezTo>
                  <a:cubicBezTo>
                    <a:pt x="511" y="11"/>
                    <a:pt x="511" y="11"/>
                    <a:pt x="511" y="11"/>
                  </a:cubicBezTo>
                  <a:cubicBezTo>
                    <a:pt x="861" y="11"/>
                    <a:pt x="861" y="11"/>
                    <a:pt x="861" y="11"/>
                  </a:cubicBezTo>
                  <a:cubicBezTo>
                    <a:pt x="861" y="297"/>
                    <a:pt x="861" y="297"/>
                    <a:pt x="861" y="297"/>
                  </a:cubicBezTo>
                  <a:cubicBezTo>
                    <a:pt x="861" y="297"/>
                    <a:pt x="861" y="297"/>
                    <a:pt x="861" y="297"/>
                  </a:cubicBezTo>
                  <a:moveTo>
                    <a:pt x="802" y="498"/>
                  </a:moveTo>
                  <a:cubicBezTo>
                    <a:pt x="838" y="372"/>
                    <a:pt x="838" y="372"/>
                    <a:pt x="838" y="372"/>
                  </a:cubicBezTo>
                  <a:cubicBezTo>
                    <a:pt x="844" y="498"/>
                    <a:pt x="844" y="498"/>
                    <a:pt x="844" y="498"/>
                  </a:cubicBezTo>
                  <a:cubicBezTo>
                    <a:pt x="802" y="498"/>
                    <a:pt x="802" y="498"/>
                    <a:pt x="802" y="498"/>
                  </a:cubicBezTo>
                  <a:cubicBezTo>
                    <a:pt x="802" y="498"/>
                    <a:pt x="802" y="498"/>
                    <a:pt x="802" y="498"/>
                  </a:cubicBezTo>
                  <a:moveTo>
                    <a:pt x="552" y="452"/>
                  </a:moveTo>
                  <a:cubicBezTo>
                    <a:pt x="552" y="452"/>
                    <a:pt x="552" y="452"/>
                    <a:pt x="552" y="452"/>
                  </a:cubicBezTo>
                  <a:cubicBezTo>
                    <a:pt x="546" y="452"/>
                    <a:pt x="540" y="452"/>
                    <a:pt x="540" y="452"/>
                  </a:cubicBezTo>
                  <a:cubicBezTo>
                    <a:pt x="535" y="452"/>
                    <a:pt x="529" y="452"/>
                    <a:pt x="529" y="452"/>
                  </a:cubicBezTo>
                  <a:cubicBezTo>
                    <a:pt x="505" y="452"/>
                    <a:pt x="505" y="452"/>
                    <a:pt x="505" y="452"/>
                  </a:cubicBezTo>
                  <a:cubicBezTo>
                    <a:pt x="517" y="412"/>
                    <a:pt x="517" y="412"/>
                    <a:pt x="517" y="412"/>
                  </a:cubicBezTo>
                  <a:cubicBezTo>
                    <a:pt x="517" y="395"/>
                    <a:pt x="517" y="395"/>
                    <a:pt x="517" y="395"/>
                  </a:cubicBezTo>
                  <a:cubicBezTo>
                    <a:pt x="529" y="355"/>
                    <a:pt x="529" y="355"/>
                    <a:pt x="529" y="355"/>
                  </a:cubicBezTo>
                  <a:cubicBezTo>
                    <a:pt x="535" y="355"/>
                    <a:pt x="540" y="355"/>
                    <a:pt x="546" y="355"/>
                  </a:cubicBezTo>
                  <a:cubicBezTo>
                    <a:pt x="564" y="355"/>
                    <a:pt x="564" y="355"/>
                    <a:pt x="564" y="355"/>
                  </a:cubicBezTo>
                  <a:cubicBezTo>
                    <a:pt x="594" y="355"/>
                    <a:pt x="612" y="355"/>
                    <a:pt x="618" y="360"/>
                  </a:cubicBezTo>
                  <a:cubicBezTo>
                    <a:pt x="624" y="372"/>
                    <a:pt x="624" y="383"/>
                    <a:pt x="618" y="400"/>
                  </a:cubicBezTo>
                  <a:cubicBezTo>
                    <a:pt x="606" y="429"/>
                    <a:pt x="594" y="446"/>
                    <a:pt x="552" y="452"/>
                  </a:cubicBezTo>
                  <a:moveTo>
                    <a:pt x="451" y="315"/>
                  </a:moveTo>
                  <a:cubicBezTo>
                    <a:pt x="445" y="332"/>
                    <a:pt x="445" y="332"/>
                    <a:pt x="445" y="332"/>
                  </a:cubicBezTo>
                  <a:cubicBezTo>
                    <a:pt x="398" y="492"/>
                    <a:pt x="398" y="492"/>
                    <a:pt x="398" y="492"/>
                  </a:cubicBezTo>
                  <a:cubicBezTo>
                    <a:pt x="398" y="498"/>
                    <a:pt x="398" y="498"/>
                    <a:pt x="398" y="498"/>
                  </a:cubicBezTo>
                  <a:cubicBezTo>
                    <a:pt x="231" y="498"/>
                    <a:pt x="231" y="498"/>
                    <a:pt x="231" y="498"/>
                  </a:cubicBezTo>
                  <a:cubicBezTo>
                    <a:pt x="219" y="469"/>
                    <a:pt x="219" y="469"/>
                    <a:pt x="219" y="469"/>
                  </a:cubicBezTo>
                  <a:cubicBezTo>
                    <a:pt x="398" y="297"/>
                    <a:pt x="398" y="297"/>
                    <a:pt x="398" y="297"/>
                  </a:cubicBezTo>
                  <a:cubicBezTo>
                    <a:pt x="285" y="297"/>
                    <a:pt x="285" y="297"/>
                    <a:pt x="285" y="297"/>
                  </a:cubicBezTo>
                  <a:cubicBezTo>
                    <a:pt x="148" y="440"/>
                    <a:pt x="148" y="440"/>
                    <a:pt x="148" y="440"/>
                  </a:cubicBezTo>
                  <a:cubicBezTo>
                    <a:pt x="190" y="297"/>
                    <a:pt x="190" y="297"/>
                    <a:pt x="190" y="297"/>
                  </a:cubicBezTo>
                  <a:cubicBezTo>
                    <a:pt x="106" y="297"/>
                    <a:pt x="106" y="297"/>
                    <a:pt x="106" y="297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451" y="11"/>
                    <a:pt x="451" y="11"/>
                    <a:pt x="451" y="11"/>
                  </a:cubicBezTo>
                  <a:cubicBezTo>
                    <a:pt x="451" y="315"/>
                    <a:pt x="451" y="315"/>
                    <a:pt x="451" y="315"/>
                  </a:cubicBezTo>
                  <a:cubicBezTo>
                    <a:pt x="451" y="315"/>
                    <a:pt x="451" y="315"/>
                    <a:pt x="451" y="315"/>
                  </a:cubicBezTo>
                  <a:moveTo>
                    <a:pt x="130" y="498"/>
                  </a:moveTo>
                  <a:cubicBezTo>
                    <a:pt x="130" y="498"/>
                    <a:pt x="130" y="498"/>
                    <a:pt x="130" y="498"/>
                  </a:cubicBezTo>
                  <a:cubicBezTo>
                    <a:pt x="130" y="498"/>
                    <a:pt x="130" y="498"/>
                    <a:pt x="130" y="498"/>
                  </a:cubicBezTo>
                  <a:cubicBezTo>
                    <a:pt x="130" y="498"/>
                    <a:pt x="130" y="498"/>
                    <a:pt x="130" y="498"/>
                  </a:cubicBezTo>
                  <a:cubicBezTo>
                    <a:pt x="130" y="498"/>
                    <a:pt x="130" y="498"/>
                    <a:pt x="130" y="498"/>
                  </a:cubicBezTo>
                  <a:moveTo>
                    <a:pt x="1307" y="0"/>
                  </a:moveTo>
                  <a:cubicBezTo>
                    <a:pt x="1307" y="326"/>
                    <a:pt x="1307" y="326"/>
                    <a:pt x="1307" y="326"/>
                  </a:cubicBezTo>
                  <a:cubicBezTo>
                    <a:pt x="1296" y="337"/>
                    <a:pt x="1284" y="343"/>
                    <a:pt x="1278" y="355"/>
                  </a:cubicBezTo>
                  <a:cubicBezTo>
                    <a:pt x="1278" y="0"/>
                    <a:pt x="1278" y="0"/>
                    <a:pt x="1278" y="0"/>
                  </a:cubicBezTo>
                  <a:cubicBezTo>
                    <a:pt x="903" y="0"/>
                    <a:pt x="903" y="0"/>
                    <a:pt x="903" y="0"/>
                  </a:cubicBezTo>
                  <a:cubicBezTo>
                    <a:pt x="903" y="297"/>
                    <a:pt x="903" y="297"/>
                    <a:pt x="903" y="297"/>
                  </a:cubicBezTo>
                  <a:cubicBezTo>
                    <a:pt x="873" y="297"/>
                    <a:pt x="873" y="297"/>
                    <a:pt x="873" y="297"/>
                  </a:cubicBezTo>
                  <a:cubicBezTo>
                    <a:pt x="873" y="0"/>
                    <a:pt x="873" y="0"/>
                    <a:pt x="873" y="0"/>
                  </a:cubicBezTo>
                  <a:cubicBezTo>
                    <a:pt x="499" y="0"/>
                    <a:pt x="499" y="0"/>
                    <a:pt x="499" y="0"/>
                  </a:cubicBezTo>
                  <a:cubicBezTo>
                    <a:pt x="499" y="297"/>
                    <a:pt x="499" y="297"/>
                    <a:pt x="499" y="297"/>
                  </a:cubicBezTo>
                  <a:cubicBezTo>
                    <a:pt x="469" y="297"/>
                    <a:pt x="469" y="297"/>
                    <a:pt x="469" y="297"/>
                  </a:cubicBezTo>
                  <a:cubicBezTo>
                    <a:pt x="469" y="0"/>
                    <a:pt x="469" y="0"/>
                    <a:pt x="469" y="0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95" y="337"/>
                    <a:pt x="95" y="337"/>
                    <a:pt x="95" y="337"/>
                  </a:cubicBezTo>
                  <a:cubicBezTo>
                    <a:pt x="0" y="646"/>
                    <a:pt x="0" y="646"/>
                    <a:pt x="0" y="646"/>
                  </a:cubicBezTo>
                  <a:cubicBezTo>
                    <a:pt x="83" y="646"/>
                    <a:pt x="83" y="646"/>
                    <a:pt x="83" y="646"/>
                  </a:cubicBezTo>
                  <a:cubicBezTo>
                    <a:pt x="124" y="509"/>
                    <a:pt x="124" y="509"/>
                    <a:pt x="124" y="509"/>
                  </a:cubicBezTo>
                  <a:cubicBezTo>
                    <a:pt x="136" y="509"/>
                    <a:pt x="136" y="509"/>
                    <a:pt x="136" y="509"/>
                  </a:cubicBezTo>
                  <a:cubicBezTo>
                    <a:pt x="208" y="646"/>
                    <a:pt x="208" y="646"/>
                    <a:pt x="208" y="646"/>
                  </a:cubicBezTo>
                  <a:cubicBezTo>
                    <a:pt x="309" y="646"/>
                    <a:pt x="309" y="646"/>
                    <a:pt x="309" y="646"/>
                  </a:cubicBezTo>
                  <a:cubicBezTo>
                    <a:pt x="237" y="509"/>
                    <a:pt x="237" y="509"/>
                    <a:pt x="237" y="509"/>
                  </a:cubicBezTo>
                  <a:cubicBezTo>
                    <a:pt x="392" y="509"/>
                    <a:pt x="392" y="509"/>
                    <a:pt x="392" y="509"/>
                  </a:cubicBezTo>
                  <a:cubicBezTo>
                    <a:pt x="350" y="646"/>
                    <a:pt x="350" y="646"/>
                    <a:pt x="350" y="646"/>
                  </a:cubicBezTo>
                  <a:cubicBezTo>
                    <a:pt x="439" y="646"/>
                    <a:pt x="439" y="646"/>
                    <a:pt x="439" y="646"/>
                  </a:cubicBezTo>
                  <a:cubicBezTo>
                    <a:pt x="481" y="509"/>
                    <a:pt x="481" y="509"/>
                    <a:pt x="481" y="509"/>
                  </a:cubicBezTo>
                  <a:cubicBezTo>
                    <a:pt x="505" y="509"/>
                    <a:pt x="505" y="509"/>
                    <a:pt x="505" y="509"/>
                  </a:cubicBezTo>
                  <a:cubicBezTo>
                    <a:pt x="505" y="509"/>
                    <a:pt x="505" y="509"/>
                    <a:pt x="505" y="509"/>
                  </a:cubicBezTo>
                  <a:cubicBezTo>
                    <a:pt x="535" y="509"/>
                    <a:pt x="535" y="509"/>
                    <a:pt x="535" y="509"/>
                  </a:cubicBezTo>
                  <a:cubicBezTo>
                    <a:pt x="535" y="509"/>
                    <a:pt x="535" y="509"/>
                    <a:pt x="535" y="509"/>
                  </a:cubicBezTo>
                  <a:cubicBezTo>
                    <a:pt x="707" y="509"/>
                    <a:pt x="707" y="509"/>
                    <a:pt x="707" y="509"/>
                  </a:cubicBezTo>
                  <a:cubicBezTo>
                    <a:pt x="665" y="646"/>
                    <a:pt x="665" y="646"/>
                    <a:pt x="665" y="646"/>
                  </a:cubicBezTo>
                  <a:cubicBezTo>
                    <a:pt x="760" y="646"/>
                    <a:pt x="760" y="646"/>
                    <a:pt x="760" y="646"/>
                  </a:cubicBezTo>
                  <a:cubicBezTo>
                    <a:pt x="802" y="509"/>
                    <a:pt x="802" y="509"/>
                    <a:pt x="802" y="509"/>
                  </a:cubicBezTo>
                  <a:cubicBezTo>
                    <a:pt x="844" y="509"/>
                    <a:pt x="844" y="509"/>
                    <a:pt x="844" y="509"/>
                  </a:cubicBezTo>
                  <a:cubicBezTo>
                    <a:pt x="844" y="646"/>
                    <a:pt x="844" y="646"/>
                    <a:pt x="844" y="646"/>
                  </a:cubicBezTo>
                  <a:cubicBezTo>
                    <a:pt x="921" y="646"/>
                    <a:pt x="921" y="646"/>
                    <a:pt x="921" y="646"/>
                  </a:cubicBezTo>
                  <a:cubicBezTo>
                    <a:pt x="1010" y="509"/>
                    <a:pt x="1010" y="509"/>
                    <a:pt x="1010" y="509"/>
                  </a:cubicBezTo>
                  <a:cubicBezTo>
                    <a:pt x="1070" y="509"/>
                    <a:pt x="1070" y="509"/>
                    <a:pt x="1070" y="509"/>
                  </a:cubicBezTo>
                  <a:cubicBezTo>
                    <a:pt x="1040" y="646"/>
                    <a:pt x="1040" y="646"/>
                    <a:pt x="1040" y="646"/>
                  </a:cubicBezTo>
                  <a:cubicBezTo>
                    <a:pt x="1129" y="646"/>
                    <a:pt x="1129" y="646"/>
                    <a:pt x="1129" y="646"/>
                  </a:cubicBezTo>
                  <a:cubicBezTo>
                    <a:pt x="1159" y="509"/>
                    <a:pt x="1159" y="509"/>
                    <a:pt x="1159" y="509"/>
                  </a:cubicBezTo>
                  <a:cubicBezTo>
                    <a:pt x="1212" y="509"/>
                    <a:pt x="1212" y="509"/>
                    <a:pt x="1212" y="509"/>
                  </a:cubicBezTo>
                  <a:cubicBezTo>
                    <a:pt x="1206" y="549"/>
                    <a:pt x="1218" y="589"/>
                    <a:pt x="1248" y="618"/>
                  </a:cubicBezTo>
                  <a:cubicBezTo>
                    <a:pt x="1284" y="646"/>
                    <a:pt x="1337" y="652"/>
                    <a:pt x="1379" y="652"/>
                  </a:cubicBezTo>
                  <a:cubicBezTo>
                    <a:pt x="1432" y="652"/>
                    <a:pt x="1492" y="646"/>
                    <a:pt x="1545" y="635"/>
                  </a:cubicBezTo>
                  <a:cubicBezTo>
                    <a:pt x="1581" y="509"/>
                    <a:pt x="1581" y="509"/>
                    <a:pt x="1581" y="509"/>
                  </a:cubicBezTo>
                  <a:cubicBezTo>
                    <a:pt x="1682" y="509"/>
                    <a:pt x="1682" y="509"/>
                    <a:pt x="1682" y="509"/>
                  </a:cubicBezTo>
                  <a:cubicBezTo>
                    <a:pt x="1682" y="0"/>
                    <a:pt x="1682" y="0"/>
                    <a:pt x="1682" y="0"/>
                  </a:cubicBezTo>
                  <a:cubicBezTo>
                    <a:pt x="1307" y="0"/>
                    <a:pt x="1307" y="0"/>
                    <a:pt x="1307" y="0"/>
                  </a:cubicBezTo>
                  <a:cubicBezTo>
                    <a:pt x="1307" y="0"/>
                    <a:pt x="1307" y="0"/>
                    <a:pt x="1307" y="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extbox 10"/>
          <p:cNvSpPr/>
          <p:nvPr/>
        </p:nvSpPr>
        <p:spPr>
          <a:xfrm>
            <a:off x="6234747" y="9386341"/>
            <a:ext cx="73660" cy="139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900" kern="0" spc="-10" dirty="0">
                <a:solidFill>
                  <a:srgbClr val="89898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</a:t>
            </a:r>
            <a:endParaRPr sz="9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>
            <a:off x="550973" y="538001"/>
            <a:ext cx="5963920" cy="5176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ct val="83000"/>
              </a:lnSpc>
              <a:tabLst/>
            </a:pP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How e-invoicing will work during Phase 1:</a:t>
            </a: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41984" indent="-165735" algn="l" rtl="0" eaLnBrk="0">
              <a:lnSpc>
                <a:spcPct val="94000"/>
              </a:lnSpc>
              <a:spcBef>
                <a:spcPts val="310"/>
              </a:spcBef>
              <a:tabLst/>
            </a:pP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The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seller</a:t>
            </a:r>
            <a:r>
              <a:rPr sz="10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issues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saves</a:t>
            </a:r>
            <a:r>
              <a:rPr sz="10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0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invoice</a:t>
            </a:r>
            <a:r>
              <a:rPr sz="10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through</a:t>
            </a:r>
            <a:r>
              <a:rPr sz="10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</a:t>
            </a: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e-invoicing</a:t>
            </a: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system</a:t>
            </a:r>
            <a:r>
              <a:rPr sz="10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that</a:t>
            </a:r>
            <a:r>
              <a:rPr sz="10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ompliant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 the requirements of the first phase;</a:t>
            </a:r>
            <a:endParaRPr sz="1000" dirty="0">
              <a:latin typeface="Arial"/>
              <a:ea typeface="Arial"/>
              <a:cs typeface="Arial"/>
            </a:endParaRPr>
          </a:p>
          <a:p>
            <a:pPr marL="476250" algn="l" rtl="0" eaLnBrk="0">
              <a:lnSpc>
                <a:spcPct val="83000"/>
              </a:lnSpc>
              <a:spcBef>
                <a:spcPts val="264"/>
              </a:spcBef>
              <a:tabLst/>
            </a:pP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The invoice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must contain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all the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items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requi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red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 tax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invoice;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endParaRPr sz="1000" dirty="0">
              <a:latin typeface="Arial"/>
              <a:ea typeface="Arial"/>
              <a:cs typeface="Arial"/>
            </a:endParaRPr>
          </a:p>
          <a:p>
            <a:pPr marL="476250" algn="l" rtl="0" eaLnBrk="0">
              <a:lnSpc>
                <a:spcPct val="83000"/>
              </a:lnSpc>
              <a:spcBef>
                <a:spcPts val="268"/>
              </a:spcBef>
              <a:tabLst/>
            </a:pP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The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buyer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receives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0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copy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invoice.</a:t>
            </a: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3000"/>
              </a:lnSpc>
              <a:spcBef>
                <a:spcPts val="300"/>
              </a:spcBef>
              <a:tabLst/>
            </a:pP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 most import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ant things to avoid when generating electronic invoices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are:</a:t>
            </a: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76250" algn="l" rtl="0" eaLnBrk="0">
              <a:lnSpc>
                <a:spcPct val="83000"/>
              </a:lnSpc>
              <a:spcBef>
                <a:spcPts val="300"/>
              </a:spcBef>
              <a:tabLst/>
            </a:pP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Manual inv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oicing;</a:t>
            </a:r>
            <a:endParaRPr sz="1000" dirty="0">
              <a:latin typeface="Arial"/>
              <a:ea typeface="Arial"/>
              <a:cs typeface="Arial"/>
            </a:endParaRPr>
          </a:p>
          <a:p>
            <a:pPr marL="476250" algn="l" rtl="0" eaLnBrk="0">
              <a:lnSpc>
                <a:spcPct val="83000"/>
              </a:lnSpc>
              <a:spcBef>
                <a:spcPts val="264"/>
              </a:spcBef>
              <a:tabLst/>
            </a:pP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Issuing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invoices that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include the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requirements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the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Authority;</a:t>
            </a:r>
            <a:endParaRPr sz="1000" dirty="0">
              <a:latin typeface="Arial"/>
              <a:ea typeface="Arial"/>
              <a:cs typeface="Arial"/>
            </a:endParaRPr>
          </a:p>
          <a:p>
            <a:pPr marL="641350" indent="-165100" algn="l" rtl="0" eaLnBrk="0">
              <a:lnSpc>
                <a:spcPct val="94000"/>
              </a:lnSpc>
              <a:spcBef>
                <a:spcPts val="260"/>
              </a:spcBef>
              <a:tabLst/>
            </a:pP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Using  a  system  that</a:t>
            </a:r>
            <a:r>
              <a:rPr sz="10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does</a:t>
            </a:r>
            <a:r>
              <a:rPr sz="1000" kern="0" spc="2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</a:t>
            </a:r>
            <a:r>
              <a:rPr sz="1000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comply</a:t>
            </a:r>
            <a:r>
              <a:rPr sz="10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ith</a:t>
            </a:r>
            <a:r>
              <a:rPr sz="10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000" kern="0" spc="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e-invoicing</a:t>
            </a:r>
            <a:r>
              <a:rPr sz="1000" kern="0" spc="2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requirements</a:t>
            </a:r>
            <a:r>
              <a:rPr sz="1000" kern="0" spc="2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issued</a:t>
            </a:r>
            <a:r>
              <a:rPr sz="1000" kern="0" spc="2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by</a:t>
            </a:r>
            <a:r>
              <a:rPr sz="10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Authority; and</a:t>
            </a:r>
            <a:endParaRPr sz="1000" dirty="0">
              <a:latin typeface="Arial"/>
              <a:ea typeface="Arial"/>
              <a:cs typeface="Arial"/>
            </a:endParaRPr>
          </a:p>
          <a:p>
            <a:pPr marL="476250" algn="l" rtl="0" eaLnBrk="0">
              <a:lnSpc>
                <a:spcPct val="83000"/>
              </a:lnSpc>
              <a:spcBef>
                <a:spcPts val="268"/>
              </a:spcBef>
              <a:tabLst/>
            </a:pP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Deleting electronic invoices after they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are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issued.</a:t>
            </a: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309"/>
              </a:spcBef>
              <a:tabLst/>
            </a:pP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What is optional for Phase 1 but will be</a:t>
            </a:r>
            <a:r>
              <a:rPr sz="1000" b="1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implemented</a:t>
            </a: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1000" b="1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Phase</a:t>
            </a: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2:</a:t>
            </a: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76250" algn="l" rtl="0" eaLnBrk="0">
              <a:lnSpc>
                <a:spcPct val="83000"/>
              </a:lnSpc>
              <a:spcBef>
                <a:spcPts val="307"/>
              </a:spcBef>
              <a:tabLst/>
            </a:pP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Issuing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invoices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XML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0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PDF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/A-3 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formats</a:t>
            </a:r>
            <a:r>
              <a:rPr sz="10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;</a:t>
            </a:r>
            <a:endParaRPr sz="1000" dirty="0">
              <a:latin typeface="Arial"/>
              <a:ea typeface="Arial"/>
              <a:cs typeface="Arial"/>
            </a:endParaRPr>
          </a:p>
          <a:p>
            <a:pPr marL="476250" algn="l" rtl="0" eaLnBrk="0">
              <a:lnSpc>
                <a:spcPct val="83000"/>
              </a:lnSpc>
              <a:spcBef>
                <a:spcPts val="264"/>
              </a:spcBef>
              <a:tabLst/>
            </a:pP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Implementing anti-tampering feat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ures;</a:t>
            </a:r>
            <a:endParaRPr sz="1000" dirty="0">
              <a:latin typeface="Arial"/>
              <a:ea typeface="Arial"/>
              <a:cs typeface="Arial"/>
            </a:endParaRPr>
          </a:p>
          <a:p>
            <a:pPr marL="476250" algn="l" rtl="0" eaLnBrk="0">
              <a:lnSpc>
                <a:spcPct val="83000"/>
              </a:lnSpc>
              <a:spcBef>
                <a:spcPts val="264"/>
              </a:spcBef>
              <a:tabLst/>
            </a:pP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Implementing other technical  features such as a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universally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unique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identifier</a:t>
            </a:r>
            <a:r>
              <a:rPr sz="10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(UUID);</a:t>
            </a: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endParaRPr sz="1000" dirty="0">
              <a:latin typeface="Arial"/>
              <a:ea typeface="Arial"/>
              <a:cs typeface="Arial"/>
            </a:endParaRPr>
          </a:p>
          <a:p>
            <a:pPr marL="476250" algn="l" rtl="0" eaLnBrk="0">
              <a:lnSpc>
                <a:spcPct val="83000"/>
              </a:lnSpc>
              <a:spcBef>
                <a:spcPts val="264"/>
              </a:spcBef>
              <a:tabLst/>
            </a:pP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0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Integrating with the ZATCA s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ystems.</a:t>
            </a:r>
            <a:endParaRPr sz="1000" dirty="0">
              <a:latin typeface="Arial"/>
              <a:ea typeface="Arial"/>
              <a:cs typeface="Arial"/>
            </a:endParaRPr>
          </a:p>
          <a:p>
            <a:pPr marL="16509" indent="5714" algn="l" rtl="0" eaLnBrk="0">
              <a:lnSpc>
                <a:spcPct val="101000"/>
              </a:lnSpc>
              <a:spcBef>
                <a:spcPts val="1430"/>
              </a:spcBef>
              <a:tabLst/>
            </a:pP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Please</a:t>
            </a:r>
            <a:r>
              <a:rPr sz="1000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refer</a:t>
            </a:r>
            <a:r>
              <a:rPr sz="10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0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our</a:t>
            </a:r>
            <a:r>
              <a:rPr sz="10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previous</a:t>
            </a:r>
            <a:r>
              <a:rPr sz="10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tax</a:t>
            </a:r>
            <a:r>
              <a:rPr sz="10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alerts</a:t>
            </a:r>
            <a:r>
              <a:rPr sz="10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sz="1000" kern="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0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subject</a:t>
            </a:r>
            <a:r>
              <a:rPr sz="10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through</a:t>
            </a:r>
            <a:r>
              <a:rPr sz="10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he</a:t>
            </a:r>
            <a:r>
              <a:rPr sz="10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links</a:t>
            </a:r>
            <a:r>
              <a:rPr sz="1000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provided</a:t>
            </a:r>
            <a:r>
              <a:rPr sz="10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below.</a:t>
            </a:r>
            <a:r>
              <a:rPr sz="10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We</a:t>
            </a:r>
            <a:r>
              <a:rPr sz="1000" kern="0" spc="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shall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keep</a:t>
            </a:r>
            <a:r>
              <a:rPr sz="1000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1000" kern="0" spc="2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up</a:t>
            </a:r>
            <a:r>
              <a:rPr sz="1000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0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date</a:t>
            </a:r>
            <a:r>
              <a:rPr sz="10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sz="10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any</a:t>
            </a:r>
            <a:r>
              <a:rPr sz="10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further</a:t>
            </a:r>
            <a:r>
              <a:rPr sz="1000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developments.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1000" kern="0" spc="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000" kern="0" spc="2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meantime,</a:t>
            </a:r>
            <a:r>
              <a:rPr sz="1000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our</a:t>
            </a:r>
            <a:r>
              <a:rPr sz="1000" kern="0" spc="1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teams</a:t>
            </a:r>
            <a:r>
              <a:rPr sz="1000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are</a:t>
            </a:r>
            <a:r>
              <a:rPr sz="1000" kern="0" spc="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available</a:t>
            </a:r>
            <a:r>
              <a:rPr sz="1000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discuss the implementation of e-invoicing</a:t>
            </a:r>
            <a:r>
              <a:rPr sz="10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 the</a:t>
            </a:r>
            <a:r>
              <a:rPr sz="10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Kingdom and its impact on your</a:t>
            </a:r>
            <a:r>
              <a:rPr sz="10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business.</a:t>
            </a:r>
            <a:endParaRPr sz="10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3000"/>
              </a:lnSpc>
              <a:spcBef>
                <a:spcPts val="1495"/>
              </a:spcBef>
              <a:tabLst/>
            </a:pPr>
            <a:r>
              <a:rPr sz="1000" b="1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Tax alerts</a:t>
            </a: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ct val="83000"/>
              </a:lnSpc>
              <a:spcBef>
                <a:spcPts val="306"/>
              </a:spcBef>
              <a:tabLst/>
            </a:pPr>
            <a:r>
              <a:rPr sz="1000" u="sng" kern="0" spc="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March</a:t>
            </a:r>
            <a:r>
              <a:rPr sz="1000" u="sng" kern="0" spc="9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 2021 -</a:t>
            </a:r>
            <a:r>
              <a:rPr sz="1000" u="sng" kern="0" spc="9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u="sng" kern="0" spc="9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E-</a:t>
            </a:r>
            <a:r>
              <a:rPr sz="1000" u="sng" kern="0" spc="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invoicing</a:t>
            </a:r>
            <a:r>
              <a:rPr sz="1000" u="sng" kern="0" spc="8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u="sng" kern="0" spc="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resolution</a:t>
            </a:r>
            <a:r>
              <a:rPr sz="1000" u="sng" kern="0" spc="8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u="sng" kern="0" spc="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open</a:t>
            </a:r>
            <a:r>
              <a:rPr sz="1000" u="sng" kern="0" spc="8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u="sng" kern="0" spc="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for</a:t>
            </a:r>
            <a:r>
              <a:rPr sz="1000" u="sng" kern="0" spc="8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u="sng" kern="0" spc="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2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consultation</a:t>
            </a:r>
            <a:endParaRPr sz="1000" dirty="0">
              <a:latin typeface="Arial"/>
              <a:ea typeface="Arial"/>
              <a:cs typeface="Arial"/>
            </a:endParaRPr>
          </a:p>
          <a:p>
            <a:pPr marL="22225" algn="l" rtl="0" eaLnBrk="0">
              <a:lnSpc>
                <a:spcPct val="83000"/>
              </a:lnSpc>
              <a:spcBef>
                <a:spcPts val="900"/>
              </a:spcBef>
              <a:tabLst/>
            </a:pPr>
            <a:r>
              <a:rPr sz="1000" u="sng" kern="0" spc="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December</a:t>
            </a:r>
            <a:r>
              <a:rPr sz="1000" u="sng" kern="0" spc="11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 2020 - </a:t>
            </a:r>
            <a:r>
              <a:rPr sz="1000" u="sng" kern="0" spc="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Electronic</a:t>
            </a:r>
            <a:r>
              <a:rPr sz="1000" u="sng" kern="0" spc="9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u="sng" kern="0" spc="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Invoicing</a:t>
            </a:r>
            <a:r>
              <a:rPr sz="1000" u="sng" kern="0" spc="9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u="sng" kern="0" spc="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3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Regulations</a:t>
            </a: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83000"/>
              </a:lnSpc>
              <a:spcBef>
                <a:spcPts val="6"/>
              </a:spcBef>
              <a:tabLst/>
            </a:pPr>
            <a:r>
              <a:rPr sz="1000" u="sng" kern="0" spc="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September</a:t>
            </a:r>
            <a:r>
              <a:rPr sz="1000" u="sng" kern="0" spc="11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 2020 -</a:t>
            </a:r>
            <a:r>
              <a:rPr sz="1000" u="sng" kern="0" spc="14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u="sng" kern="0" spc="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Draft</a:t>
            </a:r>
            <a:r>
              <a:rPr sz="1000" u="sng" kern="0" spc="11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u="sng" kern="0" spc="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Electronic</a:t>
            </a:r>
            <a:r>
              <a:rPr sz="1000" u="sng" kern="0" spc="11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u="sng" kern="0" spc="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Invoicing</a:t>
            </a:r>
            <a:r>
              <a:rPr sz="1000" u="sng" kern="0" spc="9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 </a:t>
            </a:r>
            <a:r>
              <a:rPr sz="1000" u="sng" kern="0" spc="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4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Regulations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6231432" y="9386341"/>
            <a:ext cx="77469" cy="139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900" kern="0" spc="-10" dirty="0">
                <a:solidFill>
                  <a:srgbClr val="89898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</a:t>
            </a:r>
            <a:endParaRPr sz="9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641131" y="1784096"/>
          <a:ext cx="5027294" cy="2138679"/>
        </p:xfrm>
        <a:graphic>
          <a:graphicData uri="http://schemas.openxmlformats.org/drawingml/2006/table">
            <a:tbl>
              <a:tblPr/>
              <a:tblGrid>
                <a:gridCol w="1270000"/>
                <a:gridCol w="1316355"/>
                <a:gridCol w="1296035"/>
                <a:gridCol w="1144905"/>
              </a:tblGrid>
              <a:tr h="1022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721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600" b="1" kern="0" spc="5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Abdulaziz Aln</a:t>
                      </a:r>
                      <a:r>
                        <a:rPr sz="600" b="1" kern="0" spc="4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aim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44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3504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600" b="1" kern="0" spc="4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Nick Soveral</a:t>
                      </a:r>
                      <a:r>
                        <a:rPr sz="600" b="1" kern="0" spc="3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4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644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600" b="1" kern="0" spc="3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Peter</a:t>
                      </a:r>
                      <a:r>
                        <a:rPr sz="600" b="1" kern="0" spc="12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b="1" kern="0" spc="3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Bourke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89864" algn="l" rtl="0" eaLnBrk="0">
                        <a:lnSpc>
                          <a:spcPct val="7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b="1" kern="0" spc="5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Mohamed Araji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149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46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9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Acting</a:t>
                      </a:r>
                      <a:r>
                        <a:rPr sz="6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Hea</a:t>
                      </a: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 of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Tax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2235" algn="l" rtl="0" eaLnBrk="0">
                        <a:lnSpc>
                          <a:spcPct val="8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30" dirty="0">
                          <a:solidFill>
                            <a:srgbClr val="221F1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Senior</a:t>
                      </a:r>
                      <a:r>
                        <a:rPr sz="600" kern="0" spc="80" dirty="0">
                          <a:solidFill>
                            <a:srgbClr val="221F1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30" dirty="0">
                          <a:solidFill>
                            <a:srgbClr val="221F1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Director,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010" algn="l" rtl="0" eaLnBrk="0">
                        <a:lnSpc>
                          <a:spcPct val="8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Senior</a:t>
                      </a:r>
                      <a:r>
                        <a:rPr sz="6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Director,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9864" algn="l" rtl="0" eaLnBrk="0">
                        <a:lnSpc>
                          <a:spcPct val="8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Senior</a:t>
                      </a:r>
                      <a:r>
                        <a:rPr sz="6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Director,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06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4" algn="l" rtl="0" eaLnBrk="0">
                        <a:lnSpc>
                          <a:spcPct val="9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E: </a:t>
                      </a:r>
                      <a:r>
                        <a:rPr sz="600" u="sng" kern="0" spc="40" dirty="0">
                          <a:solidFill>
                            <a:srgbClr val="0563C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Id2" tooltip="">
                            <a:extLst>
                              <a:ext uri="{DAF060AB-1E55-43B9-8AAB-6FB025537F2F}">
                                <wpsdc:hlinkClr xmlns:wpsdc="http://www.wps.cn/officeDocument/2017/drawingmlCustomData" val="0563C1"/>
                                <wpsdc:folHlinkClr xmlns:wpsdc="http://www.wps.cn/officeDocument/2017/drawingmlCustomData" val="0563C1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aalnaim</a:t>
                      </a:r>
                      <a:r>
                        <a:rPr sz="600" u="sng" kern="0" spc="30" dirty="0">
                          <a:solidFill>
                            <a:srgbClr val="0563C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Id2" tooltip="">
                            <a:extLst>
                              <a:ext uri="{DAF060AB-1E55-43B9-8AAB-6FB025537F2F}">
                                <wpsdc:hlinkClr xmlns:wpsdc="http://www.wps.cn/officeDocument/2017/drawingmlCustomData" val="0563C1"/>
                                <wpsdc:folHlinkClr xmlns:wpsdc="http://www.wps.cn/officeDocument/2017/drawingmlCustomData" val="0563C1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@kpmg.com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5410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600" kern="0" spc="30" dirty="0">
                          <a:solidFill>
                            <a:srgbClr val="221F1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Head of</a:t>
                      </a:r>
                      <a:r>
                        <a:rPr sz="600" kern="0" spc="90" dirty="0">
                          <a:solidFill>
                            <a:srgbClr val="221F1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30" dirty="0">
                          <a:solidFill>
                            <a:srgbClr val="221F1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Indirect</a:t>
                      </a:r>
                      <a:r>
                        <a:rPr sz="600" kern="0" spc="80" dirty="0">
                          <a:solidFill>
                            <a:srgbClr val="221F1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30" dirty="0">
                          <a:solidFill>
                            <a:srgbClr val="221F1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Tax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045" algn="l" rtl="0" eaLnBrk="0">
                        <a:lnSpc>
                          <a:spcPct val="7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600" kern="0" spc="40" dirty="0">
                          <a:solidFill>
                            <a:srgbClr val="221F1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E: </a:t>
                      </a:r>
                      <a:r>
                        <a:rPr sz="600" kern="0" spc="40" dirty="0">
                          <a:solidFill>
                            <a:srgbClr val="0563C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Id3" tooltip="">
                            <a:extLst>
                              <a:ext uri="{DAF060AB-1E55-43B9-8AAB-6FB025537F2F}">
                                <wpsdc:hlinkClr xmlns:wpsdc="http://www.wps.cn/officeDocument/2017/drawingmlCustomData" val="0563C1"/>
                                <wpsdc:folHlinkClr xmlns:wpsdc="http://www.wps.cn/officeDocument/2017/drawingmlCustomData" val="0563C1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nsoverall@</a:t>
                      </a:r>
                      <a:r>
                        <a:rPr sz="600" kern="0" spc="30" dirty="0">
                          <a:solidFill>
                            <a:srgbClr val="0563C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Id3" tooltip="">
                            <a:extLst>
                              <a:ext uri="{DAF060AB-1E55-43B9-8AAB-6FB025537F2F}">
                                <wpsdc:hlinkClr xmlns:wpsdc="http://www.wps.cn/officeDocument/2017/drawingmlCustomData" val="0563C1"/>
                                <wpsdc:folHlinkClr xmlns:wpsdc="http://www.wps.cn/officeDocument/2017/drawingmlCustomData" val="0563C1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kpmg.com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56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819" algn="l" rtl="0" eaLnBrk="0">
                        <a:lnSpc>
                          <a:spcPct val="81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M&amp;A/</a:t>
                      </a:r>
                      <a:r>
                        <a:rPr sz="6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Int’l Tax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3039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FS/ Tax</a:t>
                      </a:r>
                      <a:r>
                        <a:rPr sz="6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Rei</a:t>
                      </a:r>
                      <a:r>
                        <a:rPr sz="6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magined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38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b="1" kern="0" spc="4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Ali Sainudheen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55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314" algn="l" rtl="0" eaLnBrk="0">
                        <a:lnSpc>
                          <a:spcPct val="77000"/>
                        </a:lnSpc>
                        <a:tabLst/>
                      </a:pPr>
                      <a:r>
                        <a:rPr sz="600" b="1" kern="0" spc="3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Raza Qadir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56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83819" algn="l" rtl="0" eaLnBrk="0">
                        <a:lnSpc>
                          <a:spcPct val="8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E: </a:t>
                      </a:r>
                      <a:r>
                        <a:rPr sz="600" u="sng" kern="0" spc="40" dirty="0">
                          <a:solidFill>
                            <a:srgbClr val="0563C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Id4" tooltip="">
                            <a:extLst>
                              <a:ext uri="{DAF060AB-1E55-43B9-8AAB-6FB025537F2F}">
                                <wpsdc:hlinkClr xmlns:wpsdc="http://www.wps.cn/officeDocument/2017/drawingmlCustomData" val="0563C1"/>
                                <wpsdc:folHlinkClr xmlns:wpsdc="http://www.wps.cn/officeDocument/2017/drawingmlCustomData" val="0563C1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peterbourke@kpmg.com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21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1594" algn="l" rtl="0" eaLnBrk="0">
                        <a:lnSpc>
                          <a:spcPct val="76000"/>
                        </a:lnSpc>
                        <a:tabLst/>
                      </a:pPr>
                      <a:r>
                        <a:rPr sz="600" b="1" kern="0" spc="4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Stefan</a:t>
                      </a:r>
                      <a:r>
                        <a:rPr sz="600" b="1" kern="0" spc="9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b="1" kern="0" spc="4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El</a:t>
                      </a:r>
                      <a:r>
                        <a:rPr sz="600" b="1" kern="0" spc="10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b="1" kern="0" spc="4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Kh</a:t>
                      </a:r>
                      <a:r>
                        <a:rPr sz="600" b="1" kern="0" spc="3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ouri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489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93675" algn="l" rtl="0" eaLnBrk="0">
                        <a:lnSpc>
                          <a:spcPct val="8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600" kern="0" spc="4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: </a:t>
                      </a:r>
                      <a:r>
                        <a:rPr sz="600" u="sng" kern="0" spc="40" dirty="0">
                          <a:solidFill>
                            <a:srgbClr val="0563C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563C1"/>
                                <wpsdc:folHlinkClr xmlns:wpsdc="http://www.wps.cn/officeDocument/2017/drawingmlCustomData" val="0563C1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maraji@</a:t>
                      </a:r>
                      <a:r>
                        <a:rPr sz="600" u="sng" kern="0" spc="30" dirty="0">
                          <a:solidFill>
                            <a:srgbClr val="0563C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Id5" tooltip="">
                            <a:extLst>
                              <a:ext uri="{DAF060AB-1E55-43B9-8AAB-6FB025537F2F}">
                                <wpsdc:hlinkClr xmlns:wpsdc="http://www.wps.cn/officeDocument/2017/drawingmlCustomData" val="0563C1"/>
                                <wpsdc:folHlinkClr xmlns:wpsdc="http://www.wps.cn/officeDocument/2017/drawingmlCustomData" val="0563C1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kpmg.com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5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735" algn="l" rtl="0" eaLnBrk="0">
                        <a:lnSpc>
                          <a:spcPct val="7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b="1" kern="0" spc="4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Youssef Aoun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489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4" algn="l" rtl="0" eaLnBrk="0">
                        <a:lnSpc>
                          <a:spcPct val="8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Senior</a:t>
                      </a:r>
                      <a:r>
                        <a:rPr sz="6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Directo</a:t>
                      </a: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r,</a:t>
                      </a:r>
                      <a:r>
                        <a:rPr sz="6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Domestic Tax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314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Senior</a:t>
                      </a:r>
                      <a:r>
                        <a:rPr sz="6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Director,</a:t>
                      </a:r>
                      <a:r>
                        <a:rPr sz="6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Corporate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7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3504" algn="l" rtl="0" eaLnBrk="0">
                        <a:lnSpc>
                          <a:spcPct val="82000"/>
                        </a:lnSpc>
                        <a:tabLst/>
                      </a:pP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Tax and Advisory</a:t>
                      </a:r>
                      <a:r>
                        <a:rPr sz="6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lead</a:t>
                      </a:r>
                      <a:r>
                        <a:rPr sz="6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6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Riyadh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algn="l" rtl="0" eaLnBrk="0">
                        <a:lnSpc>
                          <a:spcPct val="72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Senior</a:t>
                      </a:r>
                      <a:r>
                        <a:rPr sz="6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Director,</a:t>
                      </a:r>
                      <a:r>
                        <a:rPr sz="6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Head</a:t>
                      </a:r>
                      <a:r>
                        <a:rPr sz="6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of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689" algn="l" rtl="0" eaLnBrk="0">
                        <a:lnSpc>
                          <a:spcPts val="772"/>
                        </a:lnSpc>
                        <a:tabLst/>
                      </a:pP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Transfer</a:t>
                      </a:r>
                      <a:r>
                        <a:rPr sz="6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Pricin</a:t>
                      </a:r>
                      <a:r>
                        <a:rPr sz="6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Director,</a:t>
                      </a:r>
                      <a:r>
                        <a:rPr sz="6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Tax </a:t>
                      </a: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Technology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0690">
                <a:tc>
                  <a:txBody>
                    <a:bodyPr/>
                    <a:lstStyle/>
                    <a:p>
                      <a:pPr marL="8254" algn="l" rtl="0" eaLnBrk="0">
                        <a:lnSpc>
                          <a:spcPct val="92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E: </a:t>
                      </a:r>
                      <a:r>
                        <a:rPr sz="600" u="sng" kern="0" spc="40" dirty="0">
                          <a:solidFill>
                            <a:srgbClr val="0563C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Id6" tooltip="">
                            <a:extLst>
                              <a:ext uri="{DAF060AB-1E55-43B9-8AAB-6FB025537F2F}">
                                <wpsdc:hlinkClr xmlns:wpsdc="http://www.wps.cn/officeDocument/2017/drawingmlCustomData" val="0563C1"/>
                                <wpsdc:folHlinkClr xmlns:wpsdc="http://www.wps.cn/officeDocument/2017/drawingmlCustomData" val="0563C1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asainudheen@k</a:t>
                      </a:r>
                      <a:r>
                        <a:rPr sz="600" u="sng" kern="0" spc="30" dirty="0">
                          <a:solidFill>
                            <a:srgbClr val="0563C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Id6" tooltip="">
                            <a:extLst>
                              <a:ext uri="{DAF060AB-1E55-43B9-8AAB-6FB025537F2F}">
                                <wpsdc:hlinkClr xmlns:wpsdc="http://www.wps.cn/officeDocument/2017/drawingmlCustomData" val="0563C1"/>
                                <wpsdc:folHlinkClr xmlns:wpsdc="http://www.wps.cn/officeDocument/2017/drawingmlCustomData" val="0563C1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pmg.com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336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7950" algn="l" rtl="0" eaLnBrk="0">
                        <a:lnSpc>
                          <a:spcPct val="73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GCMS and</a:t>
                      </a:r>
                      <a:r>
                        <a:rPr sz="6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nbound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045" algn="l" rtl="0" eaLnBrk="0">
                        <a:lnSpc>
                          <a:spcPts val="963"/>
                        </a:lnSpc>
                        <a:tabLst/>
                      </a:pP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compliance lead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1125" algn="l" rtl="0" eaLnBrk="0">
                        <a:lnSpc>
                          <a:spcPct val="7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E: </a:t>
                      </a:r>
                      <a:r>
                        <a:rPr sz="600" kern="0" spc="30" dirty="0">
                          <a:solidFill>
                            <a:srgbClr val="0563C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Id7" tooltip="">
                            <a:extLst>
                              <a:ext uri="{DAF060AB-1E55-43B9-8AAB-6FB025537F2F}">
                                <wpsdc:hlinkClr xmlns:wpsdc="http://www.wps.cn/officeDocument/2017/drawingmlCustomData" val="0563C1"/>
                                <wpsdc:folHlinkClr xmlns:wpsdc="http://www.wps.cn/officeDocument/2017/drawingmlCustomData" val="0563C1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razaqadir@kpmg.com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56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310" algn="l" rtl="0" eaLnBrk="0">
                        <a:lnSpc>
                          <a:spcPct val="92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E: </a:t>
                      </a:r>
                      <a:r>
                        <a:rPr sz="600" u="sng" kern="0" spc="40" dirty="0">
                          <a:solidFill>
                            <a:srgbClr val="0563C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563C1"/>
                                <wpsdc:folHlinkClr xmlns:wpsdc="http://www.wps.cn/officeDocument/2017/drawingmlCustomData" val="0563C1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selkhouri@kpmg.</a:t>
                      </a:r>
                      <a:r>
                        <a:rPr sz="600" u="sng" kern="0" spc="30" dirty="0">
                          <a:solidFill>
                            <a:srgbClr val="0563C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Id8" tooltip="">
                            <a:extLst>
                              <a:ext uri="{DAF060AB-1E55-43B9-8AAB-6FB025537F2F}">
                                <wpsdc:hlinkClr xmlns:wpsdc="http://www.wps.cn/officeDocument/2017/drawingmlCustomData" val="0563C1"/>
                                <wpsdc:folHlinkClr xmlns:wpsdc="http://www.wps.cn/officeDocument/2017/drawingmlCustomData" val="0563C1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com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3354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E: </a:t>
                      </a:r>
                      <a:r>
                        <a:rPr sz="600" u="sng" kern="0" spc="40" dirty="0">
                          <a:solidFill>
                            <a:srgbClr val="0563C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Id9" tooltip="">
                            <a:extLst>
                              <a:ext uri="{DAF060AB-1E55-43B9-8AAB-6FB025537F2F}">
                                <wpsdc:hlinkClr xmlns:wpsdc="http://www.wps.cn/officeDocument/2017/drawingmlCustomData" val="0563C1"/>
                                <wpsdc:folHlinkClr xmlns:wpsdc="http://www.wps.cn/officeDocument/2017/drawingmlCustomData" val="0563C1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yaoun@kpmg.c</a:t>
                      </a:r>
                      <a:r>
                        <a:rPr sz="600" u="sng" kern="0" spc="30" dirty="0">
                          <a:solidFill>
                            <a:srgbClr val="0563C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Id9" tooltip="">
                            <a:extLst>
                              <a:ext uri="{DAF060AB-1E55-43B9-8AAB-6FB025537F2F}">
                                <wpsdc:hlinkClr xmlns:wpsdc="http://www.wps.cn/officeDocument/2017/drawingmlCustomData" val="0563C1"/>
                                <wpsdc:folHlinkClr xmlns:wpsdc="http://www.wps.cn/officeDocument/2017/drawingmlCustomData" val="0563C1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om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29" algn="l" rtl="0" eaLnBrk="0">
                        <a:lnSpc>
                          <a:spcPct val="75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600" b="1" kern="0" spc="3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Faisal</a:t>
                      </a:r>
                      <a:r>
                        <a:rPr sz="600" b="1" kern="0" spc="8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b="1" kern="0" spc="3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Tanvir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0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0330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600" b="1" kern="0" spc="5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Oleg</a:t>
                      </a:r>
                      <a:r>
                        <a:rPr sz="600" b="1" kern="0" spc="9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b="1" kern="0" spc="5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Shmal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56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90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34" algn="l" rtl="0" eaLnBrk="0">
                        <a:lnSpc>
                          <a:spcPct val="82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Director,</a:t>
                      </a:r>
                      <a:r>
                        <a:rPr sz="6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Domestic </a:t>
                      </a: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Tax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82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Director,</a:t>
                      </a:r>
                      <a:r>
                        <a:rPr sz="6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Indirect</a:t>
                      </a:r>
                      <a:r>
                        <a:rPr sz="6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Tax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22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4" algn="l" rtl="0" eaLnBrk="0">
                        <a:lnSpc>
                          <a:spcPct val="9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E: </a:t>
                      </a:r>
                      <a:r>
                        <a:rPr sz="600" u="sng" kern="0" spc="40" dirty="0">
                          <a:solidFill>
                            <a:srgbClr val="0563C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Id10" tooltip="">
                            <a:extLst>
                              <a:ext uri="{DAF060AB-1E55-43B9-8AAB-6FB025537F2F}">
                                <wpsdc:hlinkClr xmlns:wpsdc="http://www.wps.cn/officeDocument/2017/drawingmlCustomData" val="0563C1"/>
                                <wpsdc:folHlinkClr xmlns:wpsdc="http://www.wps.cn/officeDocument/2017/drawingmlCustomData" val="0563C1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ftanvir@kpmg.c</a:t>
                      </a:r>
                      <a:r>
                        <a:rPr sz="600" u="sng" kern="0" spc="30" dirty="0">
                          <a:solidFill>
                            <a:srgbClr val="0563C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Id10" tooltip="">
                            <a:extLst>
                              <a:ext uri="{DAF060AB-1E55-43B9-8AAB-6FB025537F2F}">
                                <wpsdc:hlinkClr xmlns:wpsdc="http://www.wps.cn/officeDocument/2017/drawingmlCustomData" val="0563C1"/>
                                <wpsdc:folHlinkClr xmlns:wpsdc="http://www.wps.cn/officeDocument/2017/drawingmlCustomData" val="0563C1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om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045" algn="l" rtl="0" eaLnBrk="0">
                        <a:lnSpc>
                          <a:spcPct val="8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E: </a:t>
                      </a:r>
                      <a:r>
                        <a:rPr sz="600" kern="0" spc="40" dirty="0">
                          <a:solidFill>
                            <a:srgbClr val="0563C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Id11" tooltip="">
                            <a:extLst>
                              <a:ext uri="{DAF060AB-1E55-43B9-8AAB-6FB025537F2F}">
                                <wpsdc:hlinkClr xmlns:wpsdc="http://www.wps.cn/officeDocument/2017/drawingmlCustomData" val="0563C1"/>
                                <wpsdc:folHlinkClr xmlns:wpsdc="http://www.wps.cn/officeDocument/2017/drawingmlCustomData" val="0563C1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oshmal@kpmg.com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56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07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07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" name="textbox 18"/>
          <p:cNvSpPr/>
          <p:nvPr/>
        </p:nvSpPr>
        <p:spPr>
          <a:xfrm>
            <a:off x="583641" y="8602014"/>
            <a:ext cx="5535295" cy="7854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information contained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herein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 of a general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nature and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intended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to address the circumstances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any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particular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individual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or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entity. Although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we</a:t>
            </a:r>
            <a:endParaRPr sz="600" dirty="0">
              <a:latin typeface="Arial"/>
              <a:ea typeface="Arial"/>
              <a:cs typeface="Arial"/>
            </a:endParaRPr>
          </a:p>
          <a:p>
            <a:pPr marL="13334" indent="1905" algn="l" rtl="0" eaLnBrk="0">
              <a:lnSpc>
                <a:spcPct val="105000"/>
              </a:lnSpc>
              <a:spcBef>
                <a:spcPts val="92"/>
              </a:spcBef>
              <a:tabLst/>
            </a:pP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endeavor to provide accurate and timely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information,</a:t>
            </a:r>
            <a:r>
              <a:rPr sz="6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there can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 guarantee that such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formation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accurate</a:t>
            </a: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as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date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it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received or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that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it will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continue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 be accurate in the future. No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one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should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act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such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information</a:t>
            </a:r>
            <a:r>
              <a:rPr sz="6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without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appropriate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professional advice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aft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er a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thorough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examination of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particular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situation.</a:t>
            </a:r>
            <a:endParaRPr sz="6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78000"/>
              </a:lnSpc>
              <a:spcBef>
                <a:spcPts val="438"/>
              </a:spcBef>
              <a:tabLst/>
            </a:pP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Disclaimer: Tax advisory services could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be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ohibited for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audit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clients.</a:t>
            </a:r>
            <a:endParaRPr sz="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3970" indent="-635" algn="l" rtl="0" eaLnBrk="0">
              <a:lnSpc>
                <a:spcPct val="108000"/>
              </a:lnSpc>
              <a:spcBef>
                <a:spcPts val="4"/>
              </a:spcBef>
              <a:tabLst/>
            </a:pP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2021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KPMG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Professional Services, a Saudi Joint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Stock Compa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ny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non-partner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member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firm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the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KPMG</a:t>
            </a: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global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organization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independent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member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firms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affiliated with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KPMG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International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Limited, a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private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English c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ompany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limited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by guarantee. The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KPMG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name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logo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are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registered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trademarks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or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trademarks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KPMG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International.</a:t>
            </a:r>
            <a:endParaRPr sz="600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644060" y="5522197"/>
          <a:ext cx="5248909" cy="443229"/>
        </p:xfrm>
        <a:graphic>
          <a:graphicData uri="http://schemas.openxmlformats.org/drawingml/2006/table">
            <a:tbl>
              <a:tblPr/>
              <a:tblGrid>
                <a:gridCol w="1283970"/>
                <a:gridCol w="1348739"/>
                <a:gridCol w="1177925"/>
                <a:gridCol w="1438275"/>
              </a:tblGrid>
              <a:tr h="1346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600" b="1" kern="0" spc="4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Tareq Al Sunaid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089" algn="l" rtl="0" eaLnBrk="0">
                        <a:lnSpc>
                          <a:spcPct val="7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b="1" kern="0" spc="6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Mohammad</a:t>
                      </a:r>
                      <a:r>
                        <a:rPr sz="600" b="1" kern="0" spc="10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b="1" kern="0" spc="6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Kamran S</a:t>
                      </a:r>
                      <a:r>
                        <a:rPr sz="600" b="1" kern="0" spc="5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ial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089" algn="l" rtl="0" eaLnBrk="0">
                        <a:lnSpc>
                          <a:spcPct val="75000"/>
                        </a:lnSpc>
                        <a:tabLst/>
                      </a:pPr>
                      <a:r>
                        <a:rPr sz="600" b="1" kern="0" spc="3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Anil</a:t>
                      </a:r>
                      <a:r>
                        <a:rPr sz="600" b="1" kern="0" spc="12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b="1" kern="0" spc="3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Bahl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38759" algn="l" rtl="0" eaLnBrk="0">
                        <a:lnSpc>
                          <a:spcPct val="7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600" b="1" kern="0" spc="6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Mohamed</a:t>
                      </a:r>
                      <a:r>
                        <a:rPr sz="600" b="1" kern="0" spc="11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b="1" kern="0" spc="60" dirty="0">
                          <a:solidFill>
                            <a:srgbClr val="004E96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Gouda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819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85" algn="l" rtl="0" eaLnBrk="0">
                        <a:lnSpc>
                          <a:spcPct val="82000"/>
                        </a:lnSpc>
                        <a:tabLst/>
                      </a:pP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Partner,</a:t>
                      </a:r>
                      <a:r>
                        <a:rPr sz="6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Head of</a:t>
                      </a:r>
                      <a:r>
                        <a:rPr sz="6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Domestic Tax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089" algn="l" rtl="0" eaLnBrk="0">
                        <a:lnSpc>
                          <a:spcPct val="82000"/>
                        </a:lnSpc>
                        <a:tabLst/>
                      </a:pP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Senior</a:t>
                      </a:r>
                      <a:r>
                        <a:rPr sz="6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Director,</a:t>
                      </a:r>
                      <a:r>
                        <a:rPr sz="6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</a:t>
                      </a: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mestic Tax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2710" algn="l" rtl="0" eaLnBrk="0">
                        <a:lnSpc>
                          <a:spcPct val="8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30" dirty="0">
                          <a:solidFill>
                            <a:srgbClr val="221F1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Director,</a:t>
                      </a:r>
                      <a:r>
                        <a:rPr sz="600" kern="0" spc="200" dirty="0">
                          <a:solidFill>
                            <a:srgbClr val="221F1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30" dirty="0">
                          <a:solidFill>
                            <a:srgbClr val="221F1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Indirect Tax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1300" algn="l" rtl="0" eaLnBrk="0">
                        <a:lnSpc>
                          <a:spcPct val="8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600" kern="0" spc="40" dirty="0">
                          <a:solidFill>
                            <a:srgbClr val="221F1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Director,</a:t>
                      </a:r>
                      <a:r>
                        <a:rPr sz="600" kern="0" spc="130" dirty="0">
                          <a:solidFill>
                            <a:srgbClr val="221F1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600" kern="0" spc="40" dirty="0">
                          <a:solidFill>
                            <a:srgbClr val="221F1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Domestic </a:t>
                      </a:r>
                      <a:r>
                        <a:rPr sz="600" kern="0" spc="30" dirty="0">
                          <a:solidFill>
                            <a:srgbClr val="221F1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Tax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E: </a:t>
                      </a:r>
                      <a:r>
                        <a:rPr sz="600" u="sng" kern="0" spc="40" dirty="0">
                          <a:solidFill>
                            <a:srgbClr val="0563C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Id12" tooltip="">
                            <a:extLst>
                              <a:ext uri="{DAF060AB-1E55-43B9-8AAB-6FB025537F2F}">
                                <wpsdc:hlinkClr xmlns:wpsdc="http://www.wps.cn/officeDocument/2017/drawingmlCustomData" val="0563C1"/>
                                <wpsdc:folHlinkClr xmlns:wpsdc="http://www.wps.cn/officeDocument/2017/drawingmlCustomData" val="0563C1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talsunai</a:t>
                      </a:r>
                      <a:r>
                        <a:rPr sz="600" u="sng" kern="0" spc="30" dirty="0">
                          <a:solidFill>
                            <a:srgbClr val="0563C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Id12" tooltip="">
                            <a:extLst>
                              <a:ext uri="{DAF060AB-1E55-43B9-8AAB-6FB025537F2F}">
                                <wpsdc:hlinkClr xmlns:wpsdc="http://www.wps.cn/officeDocument/2017/drawingmlCustomData" val="0563C1"/>
                                <wpsdc:folHlinkClr xmlns:wpsdc="http://www.wps.cn/officeDocument/2017/drawingmlCustomData" val="0563C1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d@kpmg.com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E: </a:t>
                      </a:r>
                      <a:r>
                        <a:rPr sz="600" u="sng" kern="0" spc="40" dirty="0">
                          <a:solidFill>
                            <a:srgbClr val="0563C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Id13" tooltip="">
                            <a:extLst>
                              <a:ext uri="{DAF060AB-1E55-43B9-8AAB-6FB025537F2F}">
                                <wpsdc:hlinkClr xmlns:wpsdc="http://www.wps.cn/officeDocument/2017/drawingmlCustomData" val="0563C1"/>
                                <wpsdc:folHlinkClr xmlns:wpsdc="http://www.wps.cn/officeDocument/2017/drawingmlCustomData" val="0563C1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ksial@</a:t>
                      </a:r>
                      <a:r>
                        <a:rPr sz="600" u="sng" kern="0" spc="30" dirty="0">
                          <a:solidFill>
                            <a:srgbClr val="0563C1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Id13" tooltip="">
                            <a:extLst>
                              <a:ext uri="{DAF060AB-1E55-43B9-8AAB-6FB025537F2F}">
                                <wpsdc:hlinkClr xmlns:wpsdc="http://www.wps.cn/officeDocument/2017/drawingmlCustomData" val="0563C1"/>
                                <wpsdc:folHlinkClr xmlns:wpsdc="http://www.wps.cn/officeDocument/2017/drawingmlCustomData" val="0563C1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kpmg.com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2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3344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600" u="sng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Id14" tooltip="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E</a:t>
                      </a:r>
                      <a:r>
                        <a:rPr sz="600" u="sng" kern="0" spc="30" dirty="0">
                          <a:solidFill>
                            <a:srgbClr val="0091D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Id14" tooltip="">
                            <a:extLst>
                              <a:ext uri="{DAF060AB-1E55-43B9-8AAB-6FB025537F2F}">
                                <wpsdc:hlinkClr xmlns:wpsdc="http://www.wps.cn/officeDocument/2017/drawingmlCustomData" val="0091DA"/>
                                <wpsdc:folHlinkClr xmlns:wpsdc="http://www.wps.cn/officeDocument/2017/drawingmlCustomData" val="0091DA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:anilbahl@kpmg.com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785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0000"/>
                        </a:lnSpc>
                        <a:tabLst/>
                      </a:pPr>
                      <a:r>
                        <a:rPr sz="600" u="sng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Id14" tooltip="">
                            <a:extLst>
                              <a:ext uri="{DAF060AB-1E55-43B9-8AAB-6FB025537F2F}">
                                <wpsdc:hlinkClr xmlns:wpsdc="http://www.wps.cn/officeDocument/2017/drawingmlCustomData" val="000000"/>
                                <wpsdc:folHlinkClr xmlns:wpsdc="http://www.wps.cn/officeDocument/2017/drawingmlCustomData" val="000000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E</a:t>
                      </a:r>
                      <a:r>
                        <a:rPr sz="600" u="sng" kern="0" spc="50" dirty="0">
                          <a:solidFill>
                            <a:srgbClr val="0091D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Id14" tooltip="">
                            <a:extLst>
                              <a:ext uri="{DAF060AB-1E55-43B9-8AAB-6FB025537F2F}">
                                <wpsdc:hlinkClr xmlns:wpsdc="http://www.wps.cn/officeDocument/2017/drawingmlCustomData" val="0091DA"/>
                                <wpsdc:folHlinkClr xmlns:wpsdc="http://www.wps.cn/officeDocument/2017/drawingmlCustomData" val="0091DA"/>
                                <wpsdc:hlinkUnderline xmlns:wpsdc="http://www.wps.cn/officeDocument/2017/drawingmlCustomData" val="0"/>
                              </a:ext>
                            </a:extLst>
                          </a:hlinkClick>
                        </a:rPr>
                        <a:t>:</a:t>
                      </a:r>
                      <a:r>
                        <a:rPr sz="600" u="sng" kern="0" spc="50" dirty="0">
                          <a:solidFill>
                            <a:srgbClr val="0091D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mohamedgouda@</a:t>
                      </a:r>
                      <a:r>
                        <a:rPr sz="600" u="sng" kern="0" spc="40" dirty="0">
                          <a:solidFill>
                            <a:srgbClr val="0091DA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kpmg.com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2" name="rect 22"/>
          <p:cNvSpPr/>
          <p:nvPr/>
        </p:nvSpPr>
        <p:spPr>
          <a:xfrm>
            <a:off x="597408" y="1466087"/>
            <a:ext cx="5914644" cy="166116"/>
          </a:xfrm>
          <a:prstGeom prst="rect">
            <a:avLst/>
          </a:prstGeom>
          <a:solidFill>
            <a:srgbClr val="00206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" name="textbox 24"/>
          <p:cNvSpPr/>
          <p:nvPr/>
        </p:nvSpPr>
        <p:spPr>
          <a:xfrm>
            <a:off x="647001" y="833815"/>
            <a:ext cx="1685289" cy="796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4403"/>
              </a:lnSpc>
              <a:tabLst/>
            </a:pPr>
            <a:r>
              <a:rPr sz="2700" kern="0" spc="-110" dirty="0">
                <a:solidFill>
                  <a:srgbClr val="002060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Get</a:t>
            </a:r>
            <a:r>
              <a:rPr sz="2700" kern="0" spc="190" dirty="0">
                <a:solidFill>
                  <a:srgbClr val="002060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2700" kern="0" spc="-110" dirty="0">
                <a:solidFill>
                  <a:srgbClr val="002060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in</a:t>
            </a:r>
            <a:r>
              <a:rPr sz="2700" kern="0" spc="100" dirty="0">
                <a:solidFill>
                  <a:srgbClr val="002060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 </a:t>
            </a:r>
            <a:r>
              <a:rPr sz="2700" kern="0" spc="-110" dirty="0">
                <a:solidFill>
                  <a:srgbClr val="002060">
                    <a:alpha val="100000"/>
                  </a:srgbClr>
                </a:solidFill>
                <a:latin typeface="Corbel"/>
                <a:ea typeface="Corbel"/>
                <a:cs typeface="Corbel"/>
              </a:rPr>
              <a:t>touch</a:t>
            </a:r>
            <a:endParaRPr sz="2700" dirty="0">
              <a:latin typeface="Corbel"/>
              <a:ea typeface="Corbel"/>
              <a:cs typeface="Corbe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spcBef>
                <a:spcPts val="6"/>
              </a:spcBef>
              <a:tabLst/>
            </a:pPr>
            <a:r>
              <a:rPr sz="9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Riyadh</a:t>
            </a:r>
            <a:r>
              <a:rPr sz="900" b="1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Office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582168" y="4064508"/>
            <a:ext cx="5913754" cy="166370"/>
          </a:xfrm>
          <a:prstGeom prst="rect">
            <a:avLst/>
          </a:prstGeom>
          <a:solidFill>
            <a:srgbClr val="00206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1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55880" algn="l" rtl="0" eaLnBrk="0">
              <a:lnSpc>
                <a:spcPct val="74000"/>
              </a:lnSpc>
              <a:spcBef>
                <a:spcPts val="1"/>
              </a:spcBef>
              <a:tabLst/>
            </a:pPr>
            <a:r>
              <a:rPr sz="9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Jeddah Of</a:t>
            </a:r>
            <a:r>
              <a:rPr sz="900" b="1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fice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577596" y="5268468"/>
            <a:ext cx="5913754" cy="166370"/>
          </a:xfrm>
          <a:prstGeom prst="rect">
            <a:avLst/>
          </a:prstGeom>
          <a:solidFill>
            <a:srgbClr val="00206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2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61594" algn="l" rtl="0" eaLnBrk="0">
              <a:lnSpc>
                <a:spcPct val="74000"/>
              </a:lnSpc>
              <a:tabLst/>
            </a:pPr>
            <a:r>
              <a:rPr sz="900" b="1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Khobar Office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580385" y="4438579"/>
            <a:ext cx="1320164" cy="632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8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600" b="1" kern="0" spc="60" dirty="0">
                <a:solidFill>
                  <a:srgbClr val="004E96">
                    <a:alpha val="100000"/>
                  </a:srgbClr>
                </a:solidFill>
                <a:latin typeface="Arial"/>
                <a:ea typeface="Arial"/>
                <a:cs typeface="Arial"/>
              </a:rPr>
              <a:t>Mohamed</a:t>
            </a:r>
            <a:r>
              <a:rPr sz="600" b="1" kern="0" spc="110" dirty="0">
                <a:solidFill>
                  <a:srgbClr val="004E9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b="1" kern="0" spc="60" dirty="0">
                <a:solidFill>
                  <a:srgbClr val="004E96">
                    <a:alpha val="100000"/>
                  </a:srgbClr>
                </a:solidFill>
                <a:latin typeface="Arial"/>
                <a:ea typeface="Arial"/>
                <a:cs typeface="Arial"/>
              </a:rPr>
              <a:t>ElSwef</a:t>
            </a:r>
            <a:r>
              <a:rPr sz="600" b="1" kern="0" spc="50" dirty="0">
                <a:solidFill>
                  <a:srgbClr val="004E96">
                    <a:alpha val="100000"/>
                  </a:srgbClr>
                </a:solidFill>
                <a:latin typeface="Arial"/>
                <a:ea typeface="Arial"/>
                <a:cs typeface="Arial"/>
              </a:rPr>
              <a:t>y</a:t>
            </a:r>
            <a:endParaRPr sz="600" dirty="0">
              <a:latin typeface="Arial"/>
              <a:ea typeface="Arial"/>
              <a:cs typeface="Arial"/>
            </a:endParaRPr>
          </a:p>
          <a:p>
            <a:pPr marL="15875" indent="-3175" algn="l" rtl="0" eaLnBrk="0">
              <a:lnSpc>
                <a:spcPct val="175000"/>
              </a:lnSpc>
              <a:spcBef>
                <a:spcPts val="182"/>
              </a:spcBef>
              <a:tabLst/>
            </a:pP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Senior</a:t>
            </a: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Directo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r,</a:t>
            </a:r>
            <a:r>
              <a:rPr sz="600" kern="0" spc="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Family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Office</a:t>
            </a: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Private</a:t>
            </a: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Cli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ents</a:t>
            </a:r>
            <a:endParaRPr sz="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90000"/>
              </a:lnSpc>
              <a:tabLst/>
            </a:pP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E: </a:t>
            </a:r>
            <a:r>
              <a:rPr sz="600" u="sng" kern="0" spc="5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15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mohamedelswefy@kpmg.com</a:t>
            </a:r>
            <a:endParaRPr sz="600" dirty="0">
              <a:latin typeface="Arial"/>
              <a:ea typeface="Arial"/>
              <a:cs typeface="Arial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3999986" y="1099819"/>
            <a:ext cx="2120900" cy="306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1"/>
              </a:spcBef>
              <a:tabLst/>
            </a:pPr>
            <a:r>
              <a:rPr sz="800" b="1" kern="0" spc="30" dirty="0">
                <a:solidFill>
                  <a:srgbClr val="004E97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16" tooltip="">
                  <a:extLst>
                    <a:ext uri="{DAF060AB-1E55-43B9-8AAB-6FB025537F2F}">
                      <wpsdc:hlinkClr xmlns:wpsdc="http://www.wps.cn/officeDocument/2017/drawingmlCustomData" val="004E97"/>
                      <wpsdc:folHlinkClr xmlns:wpsdc="http://www.wps.cn/officeDocument/2017/drawingmlCustomData" val="004E97"/>
                      <wpsdc:hlinkUnderline xmlns:wpsdc="http://www.wps.cn/officeDocument/2017/drawingmlCustomData" val="0"/>
                    </a:ext>
                  </a:extLst>
                </a:hlinkClick>
              </a:rPr>
              <a:t>https://home.kpmg.com/sa</a:t>
            </a:r>
            <a:r>
              <a:rPr sz="800" b="1" kern="0" spc="30" dirty="0">
                <a:solidFill>
                  <a:srgbClr val="004E97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b="1" kern="0" spc="20" dirty="0">
                <a:solidFill>
                  <a:srgbClr val="004E97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5497308" y="1112519"/>
            <a:ext cx="593851" cy="280416"/>
          </a:xfrm>
          <a:prstGeom prst="rect">
            <a:avLst/>
          </a:prstGeom>
        </p:spPr>
      </p:pic>
      <p:sp>
        <p:nvSpPr>
          <p:cNvPr id="36" name="textbox 36"/>
          <p:cNvSpPr/>
          <p:nvPr/>
        </p:nvSpPr>
        <p:spPr>
          <a:xfrm>
            <a:off x="3427445" y="4457546"/>
            <a:ext cx="1398905" cy="461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600" b="1" kern="0" spc="70" dirty="0">
                <a:solidFill>
                  <a:srgbClr val="004E96">
                    <a:alpha val="100000"/>
                  </a:srgbClr>
                </a:solidFill>
                <a:latin typeface="Arial"/>
                <a:ea typeface="Arial"/>
                <a:cs typeface="Arial"/>
              </a:rPr>
              <a:t>Muhammad</a:t>
            </a:r>
            <a:r>
              <a:rPr sz="600" b="1" kern="0" spc="100" dirty="0">
                <a:solidFill>
                  <a:srgbClr val="004E9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b="1" kern="0" spc="70" dirty="0">
                <a:solidFill>
                  <a:srgbClr val="004E96">
                    <a:alpha val="100000"/>
                  </a:srgbClr>
                </a:solidFill>
                <a:latin typeface="Arial"/>
                <a:ea typeface="Arial"/>
                <a:cs typeface="Arial"/>
              </a:rPr>
              <a:t>Mas</a:t>
            </a:r>
            <a:r>
              <a:rPr sz="600" b="1" kern="0" spc="60" dirty="0">
                <a:solidFill>
                  <a:srgbClr val="004E96">
                    <a:alpha val="100000"/>
                  </a:srgbClr>
                </a:solidFill>
                <a:latin typeface="Arial"/>
                <a:ea typeface="Arial"/>
                <a:cs typeface="Arial"/>
              </a:rPr>
              <a:t>ood</a:t>
            </a:r>
            <a:endParaRPr sz="6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2000"/>
              </a:lnSpc>
              <a:spcBef>
                <a:spcPts val="799"/>
              </a:spcBef>
              <a:tabLst/>
            </a:pP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Director,</a:t>
            </a:r>
            <a:r>
              <a:rPr sz="6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Domestic 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Tax</a:t>
            </a:r>
            <a:endParaRPr sz="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90000"/>
              </a:lnSpc>
              <a:spcBef>
                <a:spcPts val="7"/>
              </a:spcBef>
              <a:tabLst/>
            </a:pP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E: </a:t>
            </a:r>
            <a:r>
              <a:rPr sz="600" u="sng" kern="0" spc="5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18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muhammadmasood@kpmg.com</a:t>
            </a:r>
            <a:endParaRPr sz="600" dirty="0">
              <a:latin typeface="Arial"/>
              <a:ea typeface="Arial"/>
              <a:cs typeface="Arial"/>
            </a:endParaRPr>
          </a:p>
        </p:txBody>
      </p:sp>
      <p:sp>
        <p:nvSpPr>
          <p:cNvPr id="38" name="textbox 38"/>
          <p:cNvSpPr/>
          <p:nvPr/>
        </p:nvSpPr>
        <p:spPr>
          <a:xfrm>
            <a:off x="2097831" y="4444039"/>
            <a:ext cx="848994" cy="462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sz="600" b="1" kern="0" spc="40" dirty="0">
                <a:solidFill>
                  <a:srgbClr val="004E96">
                    <a:alpha val="100000"/>
                  </a:srgbClr>
                </a:solidFill>
                <a:latin typeface="Arial"/>
                <a:ea typeface="Arial"/>
                <a:cs typeface="Arial"/>
              </a:rPr>
              <a:t>Salam</a:t>
            </a:r>
            <a:r>
              <a:rPr sz="600" b="1" kern="0" spc="120" dirty="0">
                <a:solidFill>
                  <a:srgbClr val="004E9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b="1" kern="0" spc="40" dirty="0">
                <a:solidFill>
                  <a:srgbClr val="004E96">
                    <a:alpha val="100000"/>
                  </a:srgbClr>
                </a:solidFill>
                <a:latin typeface="Arial"/>
                <a:ea typeface="Arial"/>
                <a:cs typeface="Arial"/>
              </a:rPr>
              <a:t>Eido</a:t>
            </a:r>
            <a:endParaRPr sz="600" dirty="0">
              <a:latin typeface="Arial"/>
              <a:ea typeface="Arial"/>
              <a:cs typeface="Arial"/>
            </a:endParaRPr>
          </a:p>
          <a:p>
            <a:pPr marL="17145" algn="l" rtl="0" eaLnBrk="0">
              <a:lnSpc>
                <a:spcPct val="82000"/>
              </a:lnSpc>
              <a:spcBef>
                <a:spcPts val="804"/>
              </a:spcBef>
              <a:tabLst/>
            </a:pP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Director,</a:t>
            </a:r>
            <a:r>
              <a:rPr sz="600" kern="0" spc="1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Indirect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Tax</a:t>
            </a:r>
            <a:endParaRPr sz="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92000"/>
              </a:lnSpc>
              <a:spcBef>
                <a:spcPts val="1"/>
              </a:spcBef>
              <a:tabLst/>
            </a:pP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E: </a:t>
            </a:r>
            <a:r>
              <a:rPr sz="600" u="sng" kern="0" spc="4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19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seido@kpmg.c</a:t>
            </a:r>
            <a:r>
              <a:rPr sz="600" u="sng" kern="0" spc="30" dirty="0">
                <a:solidFill>
                  <a:srgbClr val="0563C1">
                    <a:alpha val="100000"/>
                  </a:srgbClr>
                </a:solidFill>
                <a:latin typeface="Arial"/>
                <a:ea typeface="Arial"/>
                <a:cs typeface="Arial"/>
                <a:hlinkClick xmlns:r="http://schemas.openxmlformats.org/officeDocument/2006/relationships" r:id="rId19" tooltip="">
                  <a:extLst>
                    <a:ext uri="{DAF060AB-1E55-43B9-8AAB-6FB025537F2F}">
                      <wpsdc:hlinkClr xmlns:wpsdc="http://www.wps.cn/officeDocument/2017/drawingmlCustomData" val="0563C1"/>
                      <wpsdc:folHlinkClr xmlns:wpsdc="http://www.wps.cn/officeDocument/2017/drawingmlCustomData" val="0563C1"/>
                      <wpsdc:hlinkUnderline xmlns:wpsdc="http://www.wps.cn/officeDocument/2017/drawingmlCustomData" val="0"/>
                    </a:ext>
                  </a:extLst>
                </a:hlinkClick>
              </a:rPr>
              <a:t>om</a:t>
            </a:r>
            <a:endParaRPr sz="600" dirty="0">
              <a:latin typeface="Arial"/>
              <a:ea typeface="Arial"/>
              <a:cs typeface="Arial"/>
            </a:endParaRPr>
          </a:p>
        </p:txBody>
      </p:sp>
      <p:sp>
        <p:nvSpPr>
          <p:cNvPr id="40" name="textbox 40"/>
          <p:cNvSpPr/>
          <p:nvPr/>
        </p:nvSpPr>
        <p:spPr>
          <a:xfrm>
            <a:off x="6230747" y="9386341"/>
            <a:ext cx="78105" cy="139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900" kern="0" spc="-10" dirty="0">
                <a:solidFill>
                  <a:srgbClr val="89898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3</a:t>
            </a:r>
            <a:endParaRPr sz="9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Microsoft® PowerPoint® for Microsoft 365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Tax Alert: ZATCA releases official e-invoicing guidelines and standards</dc:title>
  <dc:subject>June 2021</dc:subject>
  <dc:creator>KPMG SA</dc:creator>
  <dcterms:created xsi:type="dcterms:W3CDTF">2021-06-07T15:26:53Z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2026-06-12T10:28:33</vt:filetime>
  </property>
</Properties>
</file>