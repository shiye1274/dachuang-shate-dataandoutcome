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858000" cy="990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viewProps" Target="viewProps.xml"/><Relationship Id="rId5" Type="http://schemas.openxmlformats.org/officeDocument/2006/relationships/tableStyles" Target="tableStyles.xml"/><Relationship Id="rId4" Type="http://schemas.openxmlformats.org/officeDocument/2006/relationships/presProps" Target="presProps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aber.sa/home/UserGuid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hyperlink" Target="mailto:pcange@kpmg.com" TargetMode="External"/><Relationship Id="rId6" Type="http://schemas.openxmlformats.org/officeDocument/2006/relationships/hyperlink" Target="mailto:nsoverall@kpmg.com" TargetMode="External"/><Relationship Id="rId5" Type="http://schemas.openxmlformats.org/officeDocument/2006/relationships/hyperlink" Target="mailto:wabunasr@kpmg.com" TargetMode="External"/><Relationship Id="rId4" Type="http://schemas.openxmlformats.org/officeDocument/2006/relationships/hyperlink" Target="mailto:rpenning@kpmg.com" TargetMode="External"/><Relationship Id="rId3" Type="http://schemas.openxmlformats.org/officeDocument/2006/relationships/hyperlink" Target="mailto:scioccarelli@kpmg.com" TargetMode="External"/><Relationship Id="rId2" Type="http://schemas.openxmlformats.org/officeDocument/2006/relationships/hyperlink" Target="https://home.kpmg.com/sa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454104" y="3428954"/>
            <a:ext cx="6066154" cy="6377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0000"/>
              </a:lnSpc>
              <a:tabLst/>
            </a:pPr>
            <a:r>
              <a:rPr sz="11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Summary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7145" indent="5080" algn="l" rtl="0" eaLnBrk="0">
              <a:lnSpc>
                <a:spcPct val="97000"/>
              </a:lnSpc>
              <a:spcBef>
                <a:spcPts val="762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impositions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the entry of certain consumer goods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the Kingdom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Saudi Arabia’s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(KSA)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manufacturers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importers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obtain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cle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arance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SABER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platform.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SABER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electronic  platform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allows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importers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manufacturers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obtain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required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Certificate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Conformity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Shipment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Certificate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Conformity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SCoC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0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goods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0000"/>
              </a:lnSpc>
              <a:spcBef>
                <a:spcPts val="340"/>
              </a:spcBef>
              <a:tabLst/>
            </a:pPr>
            <a:r>
              <a:rPr sz="11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100" b="1" kern="0" spc="9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 kern="0" spc="0" dirty="0">
                <a:solidFill>
                  <a:srgbClr val="0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Detail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1000"/>
              </a:lnSpc>
              <a:spcBef>
                <a:spcPts val="854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SABER is an electronic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 on</a:t>
            </a:r>
            <a:r>
              <a:rPr sz="10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 importers and local manufacturers: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884" algn="l" rtl="0" eaLnBrk="0">
              <a:lnSpc>
                <a:spcPct val="82000"/>
              </a:lnSpc>
              <a:spcBef>
                <a:spcPts val="866"/>
              </a:spcBef>
              <a:tabLst/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register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their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facilit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ies;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884" algn="l" rtl="0" eaLnBrk="0">
              <a:lnSpc>
                <a:spcPct val="82000"/>
              </a:lnSpc>
              <a:spcBef>
                <a:spcPts val="218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obtain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Certificate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Conformity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PCoC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);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884" algn="l" rtl="0" eaLnBrk="0">
              <a:lnSpc>
                <a:spcPct val="82000"/>
              </a:lnSpc>
              <a:spcBef>
                <a:spcPts val="218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obtain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Shipment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Certificate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Conformity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SCoC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4604" indent="3175" algn="l" rtl="0" eaLnBrk="0">
              <a:lnSpc>
                <a:spcPct val="97000"/>
              </a:lnSpc>
              <a:spcBef>
                <a:spcPts val="1342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SABER aims to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curb fraud and to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improve the safety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products entering the</a:t>
            </a:r>
            <a:r>
              <a:rPr sz="10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KSA market.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relates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products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referred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 as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“Regulated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Products”,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 as  Lube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Oils,  Detergents,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Building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Materials and Construction Products,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Paints,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Lift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s, Vehicle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Spare Parts,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Textiles etc.</a:t>
            </a:r>
            <a:r>
              <a:rPr sz="1000" kern="0" spc="-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 that are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intended to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 commercialized in the KSA market, whether imported</a:t>
            </a:r>
            <a:r>
              <a:rPr sz="10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 abroad or locally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produced.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indent="5714" algn="l" rtl="0" eaLnBrk="0">
              <a:lnSpc>
                <a:spcPct val="97000"/>
              </a:lnSpc>
              <a:spcBef>
                <a:spcPts val="748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July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 the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SABER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 was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linked with the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FASAH system,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Saudi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shipment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clearance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platform.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integration ensures the automatic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verification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since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the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SCoC,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will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automatically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loaded on to FASAH system. Any shipment to Saudi Arabia</a:t>
            </a:r>
            <a:r>
              <a:rPr sz="10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 d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oes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an SCoC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will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 granted acce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ss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the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KSA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market.  Detailed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guides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registration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 on the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SABER</a:t>
            </a:r>
            <a:r>
              <a:rPr sz="10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websit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2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here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6509" indent="4444" algn="l" rtl="0" eaLnBrk="0">
              <a:lnSpc>
                <a:spcPct val="96000"/>
              </a:lnSpc>
              <a:spcBef>
                <a:spcPts val="788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Manufacturers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impor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ters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should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 aware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these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 changes  and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potential  issues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may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arise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SABER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FASAH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platforms.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teams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help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 comply  with th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requirements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assess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their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business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249"/>
              </a:spcBef>
              <a:tabLst/>
            </a:pPr>
            <a:r>
              <a:rPr sz="800" kern="0" spc="-20" dirty="0">
                <a:solidFill>
                  <a:srgbClr val="00338D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30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</a:t>
            </a:r>
            <a:r>
              <a:rPr sz="4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Classification: KPMGPublic</a:t>
            </a:r>
            <a:endParaRPr sz="400" dirty="0">
              <a:latin typeface="Arial"/>
              <a:ea typeface="Arial"/>
              <a:cs typeface="Arial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1119" y="0"/>
            <a:ext cx="6715759" cy="2976880"/>
            <a:chOff x="0" y="0"/>
            <a:chExt cx="6715759" cy="297688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715759" cy="2976880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6741159" cy="30029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6870" algn="l" rtl="0" eaLnBrk="0">
                <a:lnSpc>
                  <a:spcPts val="4402"/>
                </a:lnSpc>
                <a:spcBef>
                  <a:spcPts val="4"/>
                </a:spcBef>
                <a:tabLst/>
              </a:pP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Customs</a:t>
              </a:r>
              <a:r>
                <a:rPr sz="2700" kern="0" spc="2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Alert:</a:t>
              </a:r>
              <a:r>
                <a:rPr sz="2700" kern="0" spc="18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SABER</a:t>
              </a:r>
              <a:r>
                <a:rPr sz="2700" kern="0" spc="18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platform</a:t>
              </a:r>
              <a:r>
                <a:rPr sz="2700" kern="0" spc="21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import</a:t>
              </a:r>
              <a:endParaRPr sz="2700" dirty="0">
                <a:latin typeface="Corbel"/>
                <a:ea typeface="Corbel"/>
                <a:cs typeface="Corbel"/>
              </a:endParaRPr>
            </a:p>
            <a:p>
              <a:pPr marL="356870" algn="l" rtl="0" eaLnBrk="0">
                <a:lnSpc>
                  <a:spcPts val="5284"/>
                </a:lnSpc>
                <a:tabLst/>
              </a:pPr>
              <a:r>
                <a:rPr sz="3000" kern="0" spc="-11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complianc</a:t>
              </a:r>
              <a:r>
                <a:rPr sz="3000" kern="0" spc="-12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e</a:t>
              </a:r>
              <a:endParaRPr sz="3000" dirty="0">
                <a:latin typeface="Corbel"/>
                <a:ea typeface="Corbel"/>
                <a:cs typeface="Corbe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300" dirty="0">
                <a:latin typeface="Arial"/>
                <a:ea typeface="Arial"/>
                <a:cs typeface="Arial"/>
              </a:endParaRPr>
            </a:p>
            <a:p>
              <a:pPr marL="405129" algn="l" rtl="0" eaLnBrk="0">
                <a:lnSpc>
                  <a:spcPct val="82000"/>
                </a:lnSpc>
                <a:spcBef>
                  <a:spcPts val="1"/>
                </a:spcBef>
                <a:tabLst/>
              </a:pPr>
              <a:r>
                <a:rPr sz="1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October</a:t>
              </a:r>
              <a:r>
                <a:rPr sz="1600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2020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/>
          <p:nvPr/>
        </p:nvSpPr>
        <p:spPr>
          <a:xfrm>
            <a:off x="584210" y="7848442"/>
            <a:ext cx="5935979" cy="1623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07840" algn="l" rtl="0" eaLnBrk="0">
              <a:lnSpc>
                <a:spcPct val="85000"/>
              </a:lnSpc>
              <a:tabLst/>
            </a:pPr>
            <a:r>
              <a:rPr sz="800" b="1" kern="0" spc="50" dirty="0">
                <a:solidFill>
                  <a:srgbClr val="004E97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4E97"/>
                      <wpsdc:folHlinkClr xmlns:wpsdc="http://www.wps.cn/officeDocument/2017/drawingmlCustomData" val="004E97"/>
                      <wpsdc:hlinkUnderline xmlns:wpsdc="http://www.wps.cn/officeDocument/2017/drawingmlCustomData" val="0"/>
                    </a:ext>
                  </a:extLst>
                </a:hlinkClick>
              </a:rPr>
              <a:t>https://home.kp</a:t>
            </a:r>
            <a:r>
              <a:rPr sz="800" b="1" kern="0" spc="40" dirty="0">
                <a:solidFill>
                  <a:srgbClr val="004E97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4E97"/>
                      <wpsdc:folHlinkClr xmlns:wpsdc="http://www.wps.cn/officeDocument/2017/drawingmlCustomData" val="004E97"/>
                      <wpsdc:hlinkUnderline xmlns:wpsdc="http://www.wps.cn/officeDocument/2017/drawingmlCustomData" val="0"/>
                    </a:ext>
                  </a:extLst>
                </a:hlinkClick>
              </a:rPr>
              <a:t>mg.com/sa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212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contained</a:t>
            </a:r>
            <a:r>
              <a:rPr sz="7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herein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general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nature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 intended to address</a:t>
            </a:r>
            <a:r>
              <a:rPr sz="7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circumstances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any particular individual or</a:t>
            </a:r>
            <a:endParaRPr sz="700" dirty="0">
              <a:latin typeface="Arial"/>
              <a:ea typeface="Arial"/>
              <a:cs typeface="Arial"/>
            </a:endParaRPr>
          </a:p>
          <a:p>
            <a:pPr marL="13334" indent="1905" algn="l" rtl="0" eaLnBrk="0">
              <a:lnSpc>
                <a:spcPct val="89000"/>
              </a:lnSpc>
              <a:spcBef>
                <a:spcPts val="100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entity. Although we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endeavor to provide accurate and timely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information,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 can be no guarantee that such information is accurate as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     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received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will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continue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accurate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future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should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appropriate</a:t>
            </a:r>
            <a:endParaRPr sz="7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0000"/>
              </a:lnSpc>
              <a:spcBef>
                <a:spcPts val="136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professional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advice</a:t>
            </a:r>
            <a:r>
              <a:rPr sz="7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after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thorough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examination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particular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situation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7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0000"/>
              </a:lnSpc>
              <a:spcBef>
                <a:spcPts val="290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Disclaimer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advisory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services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could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prohibited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audit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clients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700" dirty="0">
              <a:latin typeface="Arial"/>
              <a:ea typeface="Arial"/>
              <a:cs typeface="Arial"/>
            </a:endParaRPr>
          </a:p>
          <a:p>
            <a:pPr marL="20320" indent="-6985" algn="l" rtl="0" eaLnBrk="0">
              <a:lnSpc>
                <a:spcPct val="89000"/>
              </a:lnSpc>
              <a:spcBef>
                <a:spcPts val="497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©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 KPMG Al Fozan &amp;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Partners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Certified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Public</a:t>
            </a:r>
            <a:r>
              <a:rPr sz="7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Accountants, a registered</a:t>
            </a:r>
            <a:r>
              <a:rPr sz="700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company in the Kingdom of Saudi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Arabia, a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member firm of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the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KPMG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organization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independent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member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firms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affiliated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KPMG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International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Limited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private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English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company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limited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endParaRPr sz="7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spcBef>
                <a:spcPts val="148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guarantee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rights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reserved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517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KPMG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 and logo are registered trademarks or trademarks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KPMG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International.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800" kern="0" spc="0" dirty="0">
                <a:solidFill>
                  <a:srgbClr val="00338D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2841737" y="1890314"/>
            <a:ext cx="1349375" cy="1990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800" b="1" kern="0" spc="4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Stuart</a:t>
            </a:r>
            <a:r>
              <a:rPr sz="800" b="1" kern="0" spc="10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kern="0" spc="4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Ciocarelli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78000"/>
              </a:lnSpc>
              <a:spcBef>
                <a:spcPts val="801"/>
              </a:spcBef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Head of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Tax,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504"/>
              </a:lnSpc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Lower</a:t>
            </a:r>
            <a:r>
              <a:rPr sz="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Gulf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2000"/>
              </a:lnSpc>
              <a:spcBef>
                <a:spcPts val="933"/>
              </a:spcBef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E: </a:t>
            </a:r>
            <a:r>
              <a:rPr sz="800" u="sng" kern="0" spc="3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scioccare</a:t>
            </a:r>
            <a:r>
              <a:rPr sz="800" u="sng" kern="0" spc="2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lli@</a:t>
            </a:r>
            <a:r>
              <a:rPr sz="800" u="sng" kern="0" spc="-6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2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kpm</a:t>
            </a:r>
            <a:r>
              <a:rPr sz="800" u="sng" kern="0" spc="-9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2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g.com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5000"/>
              </a:lnSpc>
              <a:spcBef>
                <a:spcPts val="240"/>
              </a:spcBef>
              <a:tabLst/>
            </a:pPr>
            <a:r>
              <a:rPr sz="800" b="1" kern="0" spc="3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Rhys</a:t>
            </a:r>
            <a:r>
              <a:rPr sz="800" b="1" kern="0" spc="15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kern="0" spc="3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Penning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77000"/>
              </a:lnSpc>
              <a:spcBef>
                <a:spcPts val="637"/>
              </a:spcBef>
              <a:tabLst/>
            </a:pPr>
            <a:r>
              <a:rPr sz="800" kern="0" spc="3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Partner,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78000"/>
              </a:lnSpc>
              <a:spcBef>
                <a:spcPts val="772"/>
              </a:spcBef>
              <a:tabLst/>
            </a:pP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Indirect</a:t>
            </a:r>
            <a:r>
              <a:rPr sz="800" kern="0" spc="21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Tax,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426"/>
              </a:lnSpc>
              <a:tabLst/>
            </a:pP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Lower</a:t>
            </a:r>
            <a:r>
              <a:rPr sz="800" kern="0" spc="20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Gulf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800" kern="0" spc="8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E: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rpenning</a:t>
            </a:r>
            <a:r>
              <a:rPr sz="800" u="sng" kern="0" spc="8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@</a:t>
            </a:r>
            <a:r>
              <a:rPr sz="800" u="sng" kern="0" spc="-2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kpm</a:t>
            </a:r>
            <a:r>
              <a:rPr sz="800" u="sng" kern="0" spc="-9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800" u="sng" kern="0" spc="8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539208" y="1921757"/>
            <a:ext cx="1303019" cy="1951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b="1" kern="0" spc="7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WadihAbu Nasr</a:t>
            </a:r>
            <a:endParaRPr sz="8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78000"/>
              </a:lnSpc>
              <a:spcBef>
                <a:spcPts val="808"/>
              </a:spcBef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Head of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Tax,</a:t>
            </a:r>
            <a:endParaRPr sz="8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75000"/>
              </a:lnSpc>
              <a:spcBef>
                <a:spcPts val="850"/>
              </a:spcBef>
              <a:tabLst/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KSA and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Levant</a:t>
            </a:r>
            <a:endParaRPr sz="8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92000"/>
              </a:lnSpc>
              <a:spcBef>
                <a:spcPts val="870"/>
              </a:spcBef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E: </a:t>
            </a:r>
            <a:r>
              <a:rPr sz="800" u="sng" kern="0" spc="3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wabunasr@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3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kpm</a:t>
            </a:r>
            <a:r>
              <a:rPr sz="800" u="sng" kern="0" spc="-9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3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g.com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135" algn="l" rtl="0" eaLnBrk="0">
              <a:lnSpc>
                <a:spcPct val="76000"/>
              </a:lnSpc>
              <a:spcBef>
                <a:spcPts val="242"/>
              </a:spcBef>
              <a:tabLst/>
            </a:pPr>
            <a:r>
              <a:rPr sz="800" b="1" kern="0" spc="5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NickSoverall</a:t>
            </a:r>
            <a:endParaRPr sz="8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79000"/>
              </a:lnSpc>
              <a:spcBef>
                <a:spcPts val="711"/>
              </a:spcBef>
              <a:tabLst/>
            </a:pP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Senior</a:t>
            </a:r>
            <a:r>
              <a:rPr sz="800" kern="0" spc="27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Director,</a:t>
            </a:r>
            <a:endParaRPr sz="800" dirty="0">
              <a:latin typeface="Arial"/>
              <a:ea typeface="Arial"/>
              <a:cs typeface="Arial"/>
            </a:endParaRPr>
          </a:p>
          <a:p>
            <a:pPr marL="67944" indent="-635" algn="l" rtl="0" eaLnBrk="0">
              <a:lnSpc>
                <a:spcPct val="138000"/>
              </a:lnSpc>
              <a:spcBef>
                <a:spcPts val="319"/>
              </a:spcBef>
              <a:tabLst/>
            </a:pP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Head of</a:t>
            </a:r>
            <a:r>
              <a:rPr sz="800" kern="0" spc="2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Indirect</a:t>
            </a:r>
            <a:r>
              <a:rPr sz="800" kern="0" spc="14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Tax,</a:t>
            </a:r>
            <a:r>
              <a:rPr sz="800" kern="0" spc="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-1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KSA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7310" algn="l" rtl="0" eaLnBrk="0">
              <a:lnSpc>
                <a:spcPct val="102000"/>
              </a:lnSpc>
              <a:spcBef>
                <a:spcPts val="2"/>
              </a:spcBef>
              <a:tabLst/>
            </a:pPr>
            <a:r>
              <a:rPr sz="800" kern="0" spc="11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E:</a:t>
            </a:r>
            <a:r>
              <a:rPr sz="800" kern="0" spc="-10" dirty="0">
                <a:solidFill>
                  <a:srgbClr val="221F1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nsoverall</a:t>
            </a:r>
            <a:r>
              <a:rPr sz="800" u="sng" kern="0" spc="11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@</a:t>
            </a:r>
            <a:r>
              <a:rPr sz="800" u="sng" kern="0" spc="-6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kpm</a:t>
            </a:r>
            <a:r>
              <a:rPr sz="800" u="sng" kern="0" spc="-8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800" u="sng" kern="0" spc="11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518159" y="1432559"/>
            <a:ext cx="5913754" cy="244475"/>
          </a:xfrm>
          <a:prstGeom prst="rect">
            <a:avLst/>
          </a:prstGeom>
          <a:solidFill>
            <a:srgbClr val="00338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5405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800" b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Middle East</a:t>
            </a:r>
            <a:r>
              <a:rPr sz="800" b="1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Customs and International</a:t>
            </a:r>
            <a:r>
              <a:rPr sz="8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</a:t>
            </a:r>
            <a:r>
              <a:rPr sz="800" b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ade Contacts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560416" y="494410"/>
            <a:ext cx="2072639" cy="72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525"/>
              </a:lnSpc>
              <a:tabLst/>
            </a:pPr>
            <a:r>
              <a:rPr sz="3300" kern="0" spc="-110" dirty="0">
                <a:solidFill>
                  <a:srgbClr val="00338D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Get</a:t>
            </a:r>
            <a:r>
              <a:rPr sz="3300" kern="0" spc="370" dirty="0">
                <a:solidFill>
                  <a:srgbClr val="00338D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3300" kern="0" spc="-110" dirty="0">
                <a:solidFill>
                  <a:srgbClr val="00338D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in</a:t>
            </a:r>
            <a:r>
              <a:rPr sz="3300" kern="0" spc="160" dirty="0">
                <a:solidFill>
                  <a:srgbClr val="00338D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3300" kern="0" spc="-110" dirty="0">
                <a:solidFill>
                  <a:srgbClr val="00338D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touch</a:t>
            </a:r>
            <a:endParaRPr sz="3300" dirty="0">
              <a:latin typeface="Corbel"/>
              <a:ea typeface="Corbel"/>
              <a:cs typeface="Corbe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5042835" y="1891210"/>
            <a:ext cx="1383664" cy="687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800" b="1" kern="0" spc="2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Pascal Cange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875" indent="-635" algn="l" rtl="0" eaLnBrk="0">
              <a:lnSpc>
                <a:spcPct val="115000"/>
              </a:lnSpc>
              <a:spcBef>
                <a:spcPts val="447"/>
              </a:spcBef>
              <a:tabLst/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Director, Trade &amp;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Customs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Leader,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Middle  Eas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2000"/>
              </a:lnSpc>
              <a:spcBef>
                <a:spcPts val="7"/>
              </a:spcBef>
              <a:tabLst/>
            </a:pP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E: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pcange</a:t>
            </a:r>
            <a:r>
              <a:rPr sz="800" u="sng" kern="0" spc="9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@</a:t>
            </a:r>
            <a:r>
              <a:rPr sz="800" u="sng" kern="0" spc="-6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kpm</a:t>
            </a:r>
            <a:r>
              <a:rPr sz="800" u="sng" kern="0" spc="-9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g</a:t>
            </a:r>
            <a:r>
              <a:rPr sz="800" u="sng" kern="0" spc="9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800" u="sng" kern="0" spc="0" dirty="0">
                <a:solidFill>
                  <a:srgbClr val="0091DA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1DA"/>
                      <wpsdc:folHlinkClr xmlns:wpsdc="http://www.wps.cn/officeDocument/2017/drawingmlCustomData" val="0091DA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83200" y="7498080"/>
            <a:ext cx="588771" cy="27432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2854904" y="9734938"/>
            <a:ext cx="1111250" cy="72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</a:t>
            </a:r>
            <a:r>
              <a:rPr sz="4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Classification: KPMGPublic</a:t>
            </a:r>
            <a:endParaRPr sz="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for Office 365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Customs Alert: SABER platform import compliance</dc:title>
  <dc:subject>October 2020</dc:subject>
  <dc:creator>KPMG SA</dc:creator>
  <dcterms:created xsi:type="dcterms:W3CDTF">2020-11-02T15:29:32Z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2026-06-12T10:28:33</vt:filetime>
  </property>
</Properties>
</file>